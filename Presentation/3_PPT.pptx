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Cabin" panose="020B0604020202020204" charset="0"/>
      <p:regular r:id="rId11"/>
    </p:embeddedFont>
    <p:embeddedFont>
      <p:font typeface="Cabin Bold" panose="020B0604020202020204" charset="0"/>
      <p:regular r:id="rId12"/>
    </p:embeddedFon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Unbounded" panose="020B0604020202020204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2589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836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svg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39564"/>
            <a:ext cx="10795524" cy="48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0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AI/ML-Based House Price Prediction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393293" y="1442244"/>
            <a:ext cx="11405108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Progress Report 3</a:t>
            </a: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— Feature Engineering &amp; Machine Learning Models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84612" y="1878013"/>
            <a:ext cx="19050" cy="3625552"/>
          </a:xfrm>
          <a:prstGeom prst="roundRect">
            <a:avLst>
              <a:gd name="adj" fmla="val 130565"/>
            </a:avLst>
          </a:prstGeom>
          <a:solidFill>
            <a:srgbClr val="49606E"/>
          </a:solidFill>
          <a:ln/>
        </p:spPr>
      </p:sp>
      <p:sp>
        <p:nvSpPr>
          <p:cNvPr id="5" name="Shape 3"/>
          <p:cNvSpPr/>
          <p:nvPr/>
        </p:nvSpPr>
        <p:spPr>
          <a:xfrm>
            <a:off x="1052089" y="2055019"/>
            <a:ext cx="497371" cy="19050"/>
          </a:xfrm>
          <a:prstGeom prst="roundRect">
            <a:avLst>
              <a:gd name="adj" fmla="val 130565"/>
            </a:avLst>
          </a:prstGeom>
          <a:solidFill>
            <a:srgbClr val="49606E"/>
          </a:solidFill>
          <a:ln/>
        </p:spPr>
      </p:sp>
      <p:sp>
        <p:nvSpPr>
          <p:cNvPr id="6" name="Shape 4"/>
          <p:cNvSpPr/>
          <p:nvPr/>
        </p:nvSpPr>
        <p:spPr>
          <a:xfrm>
            <a:off x="698086" y="1878013"/>
            <a:ext cx="373053" cy="373063"/>
          </a:xfrm>
          <a:prstGeom prst="roundRect">
            <a:avLst>
              <a:gd name="adj" fmla="val 6667"/>
            </a:avLst>
          </a:prstGeom>
          <a:solidFill>
            <a:srgbClr val="304755"/>
          </a:solidFill>
          <a:ln/>
        </p:spPr>
      </p:sp>
      <p:sp>
        <p:nvSpPr>
          <p:cNvPr id="7" name="Text 5"/>
          <p:cNvSpPr/>
          <p:nvPr/>
        </p:nvSpPr>
        <p:spPr>
          <a:xfrm>
            <a:off x="767587" y="1918246"/>
            <a:ext cx="234051" cy="2925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13663" y="1934964"/>
            <a:ext cx="9779946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Team Members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713663" y="2273201"/>
            <a:ext cx="9779946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Ravi Patel · IU2341050103</a:t>
            </a:r>
            <a:endParaRPr lang="en-US" sz="13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Kenil Patel · IU2341050105</a:t>
            </a:r>
            <a:endParaRPr lang="en-US" sz="13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Vishnu Jikadara · IU2341050114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52089" y="3540919"/>
            <a:ext cx="497371" cy="19050"/>
          </a:xfrm>
          <a:prstGeom prst="roundRect">
            <a:avLst>
              <a:gd name="adj" fmla="val 130565"/>
            </a:avLst>
          </a:prstGeom>
          <a:solidFill>
            <a:srgbClr val="49606E"/>
          </a:solidFill>
          <a:ln/>
        </p:spPr>
      </p:sp>
      <p:sp>
        <p:nvSpPr>
          <p:cNvPr id="11" name="Shape 9"/>
          <p:cNvSpPr/>
          <p:nvPr/>
        </p:nvSpPr>
        <p:spPr>
          <a:xfrm>
            <a:off x="698086" y="3363913"/>
            <a:ext cx="373053" cy="373063"/>
          </a:xfrm>
          <a:prstGeom prst="roundRect">
            <a:avLst>
              <a:gd name="adj" fmla="val 6667"/>
            </a:avLst>
          </a:prstGeom>
          <a:solidFill>
            <a:srgbClr val="304755"/>
          </a:solidFill>
          <a:ln/>
        </p:spPr>
      </p:sp>
      <p:sp>
        <p:nvSpPr>
          <p:cNvPr id="12" name="Text 10"/>
          <p:cNvSpPr/>
          <p:nvPr/>
        </p:nvSpPr>
        <p:spPr>
          <a:xfrm>
            <a:off x="767587" y="3404146"/>
            <a:ext cx="234051" cy="2925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713663" y="3420864"/>
            <a:ext cx="9779946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Project Guide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713663" y="3759101"/>
            <a:ext cx="9779946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Dhwani Hakani Ma'am</a:t>
            </a:r>
            <a:endParaRPr lang="en-US" sz="13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Indus Institute of Technology and Engineering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2089" y="4768255"/>
            <a:ext cx="497371" cy="19050"/>
          </a:xfrm>
          <a:prstGeom prst="roundRect">
            <a:avLst>
              <a:gd name="adj" fmla="val 130565"/>
            </a:avLst>
          </a:prstGeom>
          <a:solidFill>
            <a:srgbClr val="49606E"/>
          </a:solidFill>
          <a:ln/>
        </p:spPr>
      </p:sp>
      <p:sp>
        <p:nvSpPr>
          <p:cNvPr id="16" name="Shape 14"/>
          <p:cNvSpPr/>
          <p:nvPr/>
        </p:nvSpPr>
        <p:spPr>
          <a:xfrm>
            <a:off x="698086" y="4591248"/>
            <a:ext cx="373053" cy="373063"/>
          </a:xfrm>
          <a:prstGeom prst="roundRect">
            <a:avLst>
              <a:gd name="adj" fmla="val 6667"/>
            </a:avLst>
          </a:prstGeom>
          <a:solidFill>
            <a:srgbClr val="304755"/>
          </a:solidFill>
          <a:ln/>
        </p:spPr>
      </p:sp>
      <p:sp>
        <p:nvSpPr>
          <p:cNvPr id="17" name="Text 15"/>
          <p:cNvSpPr/>
          <p:nvPr/>
        </p:nvSpPr>
        <p:spPr>
          <a:xfrm>
            <a:off x="767587" y="4631482"/>
            <a:ext cx="234051" cy="2925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713663" y="4648200"/>
            <a:ext cx="9779946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Subject &amp; Submission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713663" y="4986437"/>
            <a:ext cx="9779946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CE0727 — Software Group Project</a:t>
            </a:r>
            <a:endParaRPr lang="en-US" sz="13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Submission: </a:t>
            </a:r>
            <a:r>
              <a:rPr lang="en-US" sz="13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25 July 2026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98086" y="5722144"/>
            <a:ext cx="10795524" cy="19050"/>
          </a:xfrm>
          <a:prstGeom prst="roundRect">
            <a:avLst>
              <a:gd name="adj" fmla="val 59999"/>
            </a:avLst>
          </a:prstGeom>
          <a:solidFill>
            <a:srgbClr val="CAD6DE">
              <a:alpha val="5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93293" y="5959773"/>
            <a:ext cx="11405108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A988B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This report covers Feature Engineering, Train-Test Split, Feature Scaling, Model Training, and Model Evaluation.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818455"/>
            <a:ext cx="10795524" cy="385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2F2F2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Feature Engineering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98086" y="1399877"/>
            <a:ext cx="11405108" cy="1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We transformed the cleaned dataset (</a:t>
            </a:r>
            <a:r>
              <a:rPr lang="en-US" sz="10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9,688 rows × 8 columns</a:t>
            </a: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) into a machine learning-ready representation with 190 features. Each step was applied systematically to maximize predictive signal.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03830" y="1693466"/>
            <a:ext cx="5426634" cy="4345980"/>
          </a:xfrm>
          <a:prstGeom prst="roundRect">
            <a:avLst>
              <a:gd name="adj" fmla="val 452"/>
            </a:avLst>
          </a:prstGeom>
          <a:solidFill>
            <a:srgbClr val="1C3645"/>
          </a:solidFill>
          <a:ln/>
        </p:spPr>
      </p:sp>
      <p:sp>
        <p:nvSpPr>
          <p:cNvPr id="5" name="Text 3"/>
          <p:cNvSpPr/>
          <p:nvPr/>
        </p:nvSpPr>
        <p:spPr>
          <a:xfrm>
            <a:off x="734696" y="1791593"/>
            <a:ext cx="5164901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Pipeline Steps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4696" y="2110879"/>
            <a:ext cx="130866" cy="13087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4696" y="2297807"/>
            <a:ext cx="5164901" cy="1905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8" name="Text 5"/>
          <p:cNvSpPr/>
          <p:nvPr/>
        </p:nvSpPr>
        <p:spPr>
          <a:xfrm>
            <a:off x="734696" y="2401292"/>
            <a:ext cx="5164901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Drop Unnecessary Columns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4696" y="2691904"/>
            <a:ext cx="5164901" cy="189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Removed </a:t>
            </a:r>
            <a:r>
              <a:rPr lang="en-US" sz="1000" dirty="0">
                <a:solidFill>
                  <a:srgbClr val="CAD6DE"/>
                </a:solidFill>
                <a:highlight>
                  <a:srgbClr val="29435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availability</a:t>
            </a: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— not relevant to price prediction.</a:t>
            </a:r>
            <a:endParaRPr lang="en-US" sz="10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4696" y="3094038"/>
            <a:ext cx="130866" cy="13087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34696" y="3280966"/>
            <a:ext cx="5164901" cy="1905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12" name="Text 8"/>
          <p:cNvSpPr/>
          <p:nvPr/>
        </p:nvSpPr>
        <p:spPr>
          <a:xfrm>
            <a:off x="734696" y="3384451"/>
            <a:ext cx="5164901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Group Rare Locations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34696" y="3675063"/>
            <a:ext cx="5164901" cy="189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811 unique locations → reduced to </a:t>
            </a:r>
            <a:r>
              <a:rPr lang="en-US" sz="10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183</a:t>
            </a: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by grouping entries with ≤10 records as </a:t>
            </a:r>
            <a:r>
              <a:rPr lang="en-US" sz="1000" dirty="0">
                <a:solidFill>
                  <a:srgbClr val="CAD6DE"/>
                </a:solidFill>
                <a:highlight>
                  <a:srgbClr val="29435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'other'</a:t>
            </a: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.</a:t>
            </a:r>
            <a:endParaRPr lang="en-US" sz="10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4696" y="4077196"/>
            <a:ext cx="130866" cy="13087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734696" y="4264124"/>
            <a:ext cx="5164901" cy="1905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16" name="Text 11"/>
          <p:cNvSpPr/>
          <p:nvPr/>
        </p:nvSpPr>
        <p:spPr>
          <a:xfrm>
            <a:off x="734696" y="4367609"/>
            <a:ext cx="5164901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One-Hot Encoding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734696" y="4658221"/>
            <a:ext cx="5164901" cy="189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Converted </a:t>
            </a:r>
            <a:r>
              <a:rPr lang="en-US" sz="1000" dirty="0">
                <a:solidFill>
                  <a:srgbClr val="CAD6DE"/>
                </a:solidFill>
                <a:highlight>
                  <a:srgbClr val="29435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area_type</a:t>
            </a: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&amp; </a:t>
            </a:r>
            <a:r>
              <a:rPr lang="en-US" sz="1000" dirty="0">
                <a:solidFill>
                  <a:srgbClr val="CAD6DE"/>
                </a:solidFill>
                <a:highlight>
                  <a:srgbClr val="29435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</a:t>
            </a: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into numerical format using </a:t>
            </a:r>
            <a:r>
              <a:rPr lang="en-US" sz="1000" dirty="0">
                <a:solidFill>
                  <a:srgbClr val="CAD6DE"/>
                </a:solidFill>
                <a:highlight>
                  <a:srgbClr val="29435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pd.get_dummies()</a:t>
            </a: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.</a:t>
            </a:r>
            <a:endParaRPr lang="en-US" sz="10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4696" y="5060355"/>
            <a:ext cx="130866" cy="13087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734696" y="5247283"/>
            <a:ext cx="5164901" cy="1905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20" name="Text 14"/>
          <p:cNvSpPr/>
          <p:nvPr/>
        </p:nvSpPr>
        <p:spPr>
          <a:xfrm>
            <a:off x="734696" y="5350768"/>
            <a:ext cx="5164901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Separate Features &amp; Target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734696" y="5641380"/>
            <a:ext cx="5164901" cy="189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CAD6DE"/>
                </a:solidFill>
                <a:highlight>
                  <a:srgbClr val="29435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= 189 input features · </a:t>
            </a:r>
            <a:r>
              <a:rPr lang="en-US" sz="1000" dirty="0">
                <a:solidFill>
                  <a:srgbClr val="CAD6DE"/>
                </a:solidFill>
                <a:highlight>
                  <a:srgbClr val="29435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y</a:t>
            </a: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= price (target variable).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6261836" y="1791593"/>
            <a:ext cx="5238123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Outcome</a:t>
            </a:r>
            <a:endParaRPr lang="en-US" sz="120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61836" y="2094508"/>
            <a:ext cx="5238123" cy="773609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487950" y="2244427"/>
            <a:ext cx="4862093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Input Shape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6487950" y="2535039"/>
            <a:ext cx="4862093" cy="1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9,688 rows × 8 columns (raw cleaned dataset)</a:t>
            </a:r>
            <a:endParaRPr lang="en-US" sz="100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61836" y="2966244"/>
            <a:ext cx="5238123" cy="773609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487950" y="3116163"/>
            <a:ext cx="4862093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Output Shape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6487950" y="3406775"/>
            <a:ext cx="4862093" cy="1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b="1" dirty="0">
                <a:solidFill>
                  <a:srgbClr val="0A988B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9,688 rows × 190 columns</a:t>
            </a: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— fully encoded and ML-ready</a:t>
            </a:r>
            <a:endParaRPr lang="en-US" sz="100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61836" y="3837980"/>
            <a:ext cx="5238123" cy="773609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487950" y="3987899"/>
            <a:ext cx="4862093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Location Reduction</a:t>
            </a:r>
            <a:endParaRPr lang="en-US" sz="1200" dirty="0"/>
          </a:p>
        </p:txBody>
      </p:sp>
      <p:sp>
        <p:nvSpPr>
          <p:cNvPr id="31" name="Text 22"/>
          <p:cNvSpPr/>
          <p:nvPr/>
        </p:nvSpPr>
        <p:spPr>
          <a:xfrm>
            <a:off x="6487950" y="4278511"/>
            <a:ext cx="4862093" cy="1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811 raw locations → </a:t>
            </a:r>
            <a:r>
              <a:rPr lang="en-US" sz="10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183 meaningful categories</a:t>
            </a: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after grouping rare entries</a:t>
            </a:r>
            <a:endParaRPr lang="en-US" sz="1000" dirty="0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61836" y="4709716"/>
            <a:ext cx="5238123" cy="779959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6487950" y="4859635"/>
            <a:ext cx="4862093" cy="192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Encoding Method</a:t>
            </a:r>
            <a:endParaRPr lang="en-US" sz="1200" dirty="0"/>
          </a:p>
        </p:txBody>
      </p:sp>
      <p:sp>
        <p:nvSpPr>
          <p:cNvPr id="34" name="Text 24"/>
          <p:cNvSpPr/>
          <p:nvPr/>
        </p:nvSpPr>
        <p:spPr>
          <a:xfrm>
            <a:off x="6487950" y="5150247"/>
            <a:ext cx="4862093" cy="189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Binary dummy variables via </a:t>
            </a:r>
            <a:r>
              <a:rPr lang="en-US" sz="100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pd.get_dummies()</a:t>
            </a: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— no ordinal assumption imposed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92931"/>
            <a:ext cx="10795524" cy="410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AFCBF8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Dataset Preparation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698086" y="1226840"/>
            <a:ext cx="11405108" cy="201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feature-engineered dataset was divided into training and testing sets to enable rigorous, unbiased model evaluation. Feature scaling was then applied and all artifacts were persisted.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98086" y="1665089"/>
            <a:ext cx="5227408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Train / Test Split — Sample Distribution</a:t>
            </a:r>
            <a:endParaRPr lang="en-US" sz="12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1996083"/>
            <a:ext cx="4181866" cy="301208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98086" y="5133777"/>
            <a:ext cx="5227408" cy="402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80/20 split ensures the model learns from a large corpus while being evaluated on completely </a:t>
            </a:r>
            <a:r>
              <a:rPr lang="en-US" sz="10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unseen data</a:t>
            </a: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, preventing data leakage.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272552" y="1665089"/>
            <a:ext cx="5227408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Feature Scaling &amp; Artifacts</a:t>
            </a:r>
            <a:endParaRPr lang="en-US" sz="12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72552" y="1996083"/>
            <a:ext cx="5227408" cy="10363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07397" y="2154734"/>
            <a:ext cx="4833916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StandardScaler Applied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6507397" y="2471738"/>
            <a:ext cx="4833916" cy="402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Normalizes numerical features to zero mean and unit variance — critical for Linear Regression sensitivity to feature magnitudes.</a:t>
            </a:r>
            <a:endParaRPr lang="en-US" sz="10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72552" y="3144044"/>
            <a:ext cx="5227408" cy="104269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507397" y="3302695"/>
            <a:ext cx="4833916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Scaler Persisted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6507397" y="3619698"/>
            <a:ext cx="4833916" cy="408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scaler.pkl</a:t>
            </a: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saved for consistent transformation during real-time inference — prevents training-serving skew.</a:t>
            </a:r>
            <a:endParaRPr lang="en-US" sz="10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72552" y="4298355"/>
            <a:ext cx="5227408" cy="104269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507397" y="4457005"/>
            <a:ext cx="4833916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Datasets Saved</a:t>
            </a:r>
            <a:endParaRPr lang="en-US" sz="1250" dirty="0"/>
          </a:p>
        </p:txBody>
      </p:sp>
      <p:sp>
        <p:nvSpPr>
          <p:cNvPr id="16" name="Text 10"/>
          <p:cNvSpPr/>
          <p:nvPr/>
        </p:nvSpPr>
        <p:spPr>
          <a:xfrm>
            <a:off x="6507397" y="4774009"/>
            <a:ext cx="4833916" cy="408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X_train.csv</a:t>
            </a: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· </a:t>
            </a:r>
            <a:r>
              <a:rPr lang="en-US" sz="105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X_test.csv</a:t>
            </a: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· </a:t>
            </a:r>
            <a:r>
              <a:rPr lang="en-US" sz="105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y_train.csv</a:t>
            </a: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· </a:t>
            </a:r>
            <a:r>
              <a:rPr lang="en-US" sz="105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y_test.csv</a:t>
            </a: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— reproducible splits for future experiments.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6272552" y="5466655"/>
            <a:ext cx="5227408" cy="672703"/>
          </a:xfrm>
          <a:prstGeom prst="roundRect">
            <a:avLst>
              <a:gd name="adj" fmla="val 3114"/>
            </a:avLst>
          </a:prstGeom>
          <a:solidFill>
            <a:srgbClr val="08786D"/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2149" y="5664895"/>
            <a:ext cx="174521" cy="139601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726268" y="5601990"/>
            <a:ext cx="4634094" cy="402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All four saved CSV files share identical random seeds (random_state=42) ensuring full reproducibility across training runs.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30920"/>
            <a:ext cx="10795524" cy="48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5E98F1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Machine Learning Models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98086" y="1333599"/>
            <a:ext cx="11405108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Four regression algorithms were implemented and trained on identical </a:t>
            </a:r>
            <a:r>
              <a:rPr lang="en-US" sz="130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X_train / y_train</a:t>
            </a: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splits, enabling a fair, head-to-head performance comparison.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1775718"/>
            <a:ext cx="5318984" cy="1979017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33260" y="1919089"/>
            <a:ext cx="248636" cy="24864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82926" y="2449612"/>
            <a:ext cx="4949304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Linear Regression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882926" y="2787848"/>
            <a:ext cx="4949304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Baseline model</a:t>
            </a: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trained on scaled features. Assumes a linear relationship between input features and price. Interpretable coefficients allow feature importance analysis.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74526" y="1775718"/>
            <a:ext cx="5319083" cy="1979017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09700" y="1919089"/>
            <a:ext cx="248636" cy="248642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359366" y="2449612"/>
            <a:ext cx="4949404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Decision Tree Regressor</a:t>
            </a:r>
            <a:endParaRPr lang="en-US" sz="1500" dirty="0"/>
          </a:p>
        </p:txBody>
      </p:sp>
      <p:sp>
        <p:nvSpPr>
          <p:cNvPr id="11" name="Text 5"/>
          <p:cNvSpPr/>
          <p:nvPr/>
        </p:nvSpPr>
        <p:spPr>
          <a:xfrm>
            <a:off x="6359366" y="2787848"/>
            <a:ext cx="4949404" cy="782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Captures </a:t>
            </a:r>
            <a:r>
              <a:rPr lang="en-US" sz="13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non-linear relationships</a:t>
            </a: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without requiring feature scaling. Configured with </a:t>
            </a:r>
            <a:r>
              <a:rPr lang="en-US" sz="130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random_state=42</a:t>
            </a: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for reproducibility. Prone to overfitting on deep trees.</a:t>
            </a:r>
            <a:endParaRPr lang="en-US" sz="13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3912195"/>
            <a:ext cx="5318984" cy="1979017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33260" y="4055566"/>
            <a:ext cx="248636" cy="248642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882926" y="4586089"/>
            <a:ext cx="4949304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Random Forest Regressor</a:t>
            </a:r>
            <a:endParaRPr lang="en-US" sz="1500" dirty="0"/>
          </a:p>
        </p:txBody>
      </p:sp>
      <p:sp>
        <p:nvSpPr>
          <p:cNvPr id="15" name="Text 7"/>
          <p:cNvSpPr/>
          <p:nvPr/>
        </p:nvSpPr>
        <p:spPr>
          <a:xfrm>
            <a:off x="882926" y="4924326"/>
            <a:ext cx="4949304" cy="7820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Ensemble of </a:t>
            </a:r>
            <a:r>
              <a:rPr lang="en-US" sz="13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100 decision trees</a:t>
            </a: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(</a:t>
            </a:r>
            <a:r>
              <a:rPr lang="en-US" sz="130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n_estimators=100</a:t>
            </a: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). Reduces overfitting via bootstrap aggregation and feature randomization. Robust to outliers.</a:t>
            </a:r>
            <a:endParaRPr lang="en-US" sz="130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74526" y="3912195"/>
            <a:ext cx="5319083" cy="1979017"/>
          </a:xfrm>
          <a:prstGeom prst="rect">
            <a:avLst/>
          </a:prstGeom>
        </p:spPr>
      </p:pic>
      <p:pic>
        <p:nvPicPr>
          <p:cNvPr id="17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09700" y="4055566"/>
            <a:ext cx="248636" cy="248642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6359366" y="4586089"/>
            <a:ext cx="4949404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XGBoost Regressor </a:t>
            </a:r>
            <a:r>
              <a:rPr lang="en-US" sz="1500" i="1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(Optional)</a:t>
            </a:r>
            <a:endParaRPr lang="en-US" sz="1500" dirty="0"/>
          </a:p>
        </p:txBody>
      </p:sp>
      <p:sp>
        <p:nvSpPr>
          <p:cNvPr id="19" name="Text 9"/>
          <p:cNvSpPr/>
          <p:nvPr/>
        </p:nvSpPr>
        <p:spPr>
          <a:xfrm>
            <a:off x="6359366" y="4924326"/>
            <a:ext cx="4949404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Gradient boosting framework with built-in regularization (L1/L2). High-performance prediction with early stopping capability. Results pending.</a:t>
            </a:r>
            <a:endParaRPr lang="en-US" sz="1300" dirty="0"/>
          </a:p>
        </p:txBody>
      </p:sp>
      <p:sp>
        <p:nvSpPr>
          <p:cNvPr id="20" name="Text 10"/>
          <p:cNvSpPr/>
          <p:nvPr/>
        </p:nvSpPr>
        <p:spPr>
          <a:xfrm>
            <a:off x="698086" y="6068417"/>
            <a:ext cx="11405108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A988B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All models trained using identical X_train / y_train splits to ensure an unbiased, apples-to-apples performance comparison.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45815"/>
            <a:ext cx="10795524" cy="359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F2F2F2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Model Evaluation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698086" y="1219002"/>
            <a:ext cx="5248739" cy="179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Evaluation Metrics Used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98086" y="1494830"/>
            <a:ext cx="2581607" cy="841673"/>
          </a:xfrm>
          <a:prstGeom prst="roundRect">
            <a:avLst>
              <a:gd name="adj" fmla="val 2177"/>
            </a:avLst>
          </a:prstGeom>
          <a:solidFill>
            <a:srgbClr val="304755"/>
          </a:solidFill>
          <a:ln/>
        </p:spPr>
      </p:sp>
      <p:sp>
        <p:nvSpPr>
          <p:cNvPr id="5" name="Text 3"/>
          <p:cNvSpPr/>
          <p:nvPr/>
        </p:nvSpPr>
        <p:spPr>
          <a:xfrm>
            <a:off x="820221" y="1616968"/>
            <a:ext cx="2337337" cy="179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R² Score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0221" y="1882180"/>
            <a:ext cx="2337337" cy="332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Proportion of variance explained. Higher = better. Range: 0–1.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365217" y="1494830"/>
            <a:ext cx="2581607" cy="841673"/>
          </a:xfrm>
          <a:prstGeom prst="roundRect">
            <a:avLst>
              <a:gd name="adj" fmla="val 2177"/>
            </a:avLst>
          </a:prstGeom>
          <a:solidFill>
            <a:srgbClr val="304755"/>
          </a:solidFill>
          <a:ln/>
        </p:spPr>
      </p:sp>
      <p:sp>
        <p:nvSpPr>
          <p:cNvPr id="8" name="Text 6"/>
          <p:cNvSpPr/>
          <p:nvPr/>
        </p:nvSpPr>
        <p:spPr>
          <a:xfrm>
            <a:off x="3487353" y="1616968"/>
            <a:ext cx="2337337" cy="179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MAE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87353" y="1882180"/>
            <a:ext cx="2337337" cy="332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Mean Absolute Error — average magnitude of prediction errors in price units.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98086" y="2422029"/>
            <a:ext cx="5248739" cy="675580"/>
          </a:xfrm>
          <a:prstGeom prst="roundRect">
            <a:avLst>
              <a:gd name="adj" fmla="val 2713"/>
            </a:avLst>
          </a:prstGeom>
          <a:solidFill>
            <a:srgbClr val="304755"/>
          </a:solidFill>
          <a:ln/>
        </p:spPr>
      </p:sp>
      <p:sp>
        <p:nvSpPr>
          <p:cNvPr id="11" name="Text 9"/>
          <p:cNvSpPr/>
          <p:nvPr/>
        </p:nvSpPr>
        <p:spPr>
          <a:xfrm>
            <a:off x="820221" y="2544167"/>
            <a:ext cx="5004469" cy="179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RMSE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0221" y="2809379"/>
            <a:ext cx="5004469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Root Mean Squared Error — penalizes large errors; interpretable in original price units.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98086" y="3193752"/>
            <a:ext cx="5248739" cy="179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R² Score Comparison</a:t>
            </a:r>
            <a:endParaRPr lang="en-US" sz="11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3469580"/>
            <a:ext cx="3674078" cy="264646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251220" y="1219002"/>
            <a:ext cx="5248739" cy="179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Model Comparison Results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251220" y="1494830"/>
            <a:ext cx="5248739" cy="1163638"/>
          </a:xfrm>
          <a:prstGeom prst="roundRect">
            <a:avLst>
              <a:gd name="adj" fmla="val 1575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251220" y="1785739"/>
            <a:ext cx="5248739" cy="763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6251220" y="2073473"/>
            <a:ext cx="5248739" cy="763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6251220" y="2361208"/>
            <a:ext cx="5248739" cy="763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6257669" y="1501180"/>
            <a:ext cx="2094356" cy="284559"/>
          </a:xfrm>
          <a:prstGeom prst="rect">
            <a:avLst/>
          </a:prstGeom>
          <a:solidFill>
            <a:srgbClr val="1C3645"/>
          </a:solidFill>
          <a:ln/>
        </p:spPr>
      </p:sp>
      <p:sp>
        <p:nvSpPr>
          <p:cNvPr id="21" name="Text 18"/>
          <p:cNvSpPr/>
          <p:nvPr/>
        </p:nvSpPr>
        <p:spPr>
          <a:xfrm>
            <a:off x="6379804" y="1558826"/>
            <a:ext cx="2459670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Model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8352025" y="1501180"/>
            <a:ext cx="1570792" cy="284559"/>
          </a:xfrm>
          <a:prstGeom prst="rect">
            <a:avLst/>
          </a:prstGeom>
          <a:solidFill>
            <a:srgbClr val="1C3645"/>
          </a:solidFill>
          <a:ln/>
        </p:spPr>
      </p:sp>
      <p:sp>
        <p:nvSpPr>
          <p:cNvPr id="23" name="Text 20"/>
          <p:cNvSpPr/>
          <p:nvPr/>
        </p:nvSpPr>
        <p:spPr>
          <a:xfrm>
            <a:off x="8474161" y="1558826"/>
            <a:ext cx="1936106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R² Score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9922817" y="1501180"/>
            <a:ext cx="1570792" cy="284559"/>
          </a:xfrm>
          <a:prstGeom prst="rect">
            <a:avLst/>
          </a:prstGeom>
          <a:solidFill>
            <a:srgbClr val="1C3645"/>
          </a:solidFill>
          <a:ln/>
        </p:spPr>
      </p:sp>
      <p:sp>
        <p:nvSpPr>
          <p:cNvPr id="25" name="Text 22"/>
          <p:cNvSpPr/>
          <p:nvPr/>
        </p:nvSpPr>
        <p:spPr>
          <a:xfrm>
            <a:off x="10044953" y="1558826"/>
            <a:ext cx="1936106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Verdict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379804" y="1846560"/>
            <a:ext cx="2459670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Linear Regression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8474161" y="1846560"/>
            <a:ext cx="1936106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0.735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10044953" y="1846560"/>
            <a:ext cx="1936106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Strong baseline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6379804" y="2134295"/>
            <a:ext cx="2459670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Decision Tree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8474161" y="2134295"/>
            <a:ext cx="1936106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0.611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10044953" y="2134295"/>
            <a:ext cx="1936106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Overfitting risk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6379804" y="2422029"/>
            <a:ext cx="2459670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Random Forest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8474161" y="2422029"/>
            <a:ext cx="1936106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0.767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10044953" y="2422029"/>
            <a:ext cx="1936106" cy="172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✅</a:t>
            </a:r>
            <a:r>
              <a:rPr lang="en-US" sz="950" b="1" dirty="0">
                <a:solidFill>
                  <a:srgbClr val="0A988B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 Best Model</a:t>
            </a:r>
            <a:endParaRPr lang="en-US" sz="950" dirty="0"/>
          </a:p>
        </p:txBody>
      </p:sp>
      <p:pic>
        <p:nvPicPr>
          <p:cNvPr id="3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51220" y="2754610"/>
            <a:ext cx="2581607" cy="1039515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6436854" y="2889448"/>
            <a:ext cx="226113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✅</a:t>
            </a: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Best Model Selected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6436854" y="3161010"/>
            <a:ext cx="2261139" cy="498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Random Forest</a:t>
            </a: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— highest R² (0.767), lowest MAE &amp; RMSE. Saved as </a:t>
            </a:r>
            <a:r>
              <a:rPr lang="en-US" sz="95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best_ml_model.pkl</a:t>
            </a: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.</a:t>
            </a:r>
            <a:endParaRPr lang="en-US" sz="950" dirty="0"/>
          </a:p>
        </p:txBody>
      </p:sp>
      <p:pic>
        <p:nvPicPr>
          <p:cNvPr id="3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18352" y="2754610"/>
            <a:ext cx="2581607" cy="1039515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9103986" y="2889448"/>
            <a:ext cx="2261139" cy="179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Scaler Persisted</a:t>
            </a:r>
            <a:endParaRPr lang="en-US" sz="1100" dirty="0"/>
          </a:p>
        </p:txBody>
      </p:sp>
      <p:sp>
        <p:nvSpPr>
          <p:cNvPr id="40" name="Text 35"/>
          <p:cNvSpPr/>
          <p:nvPr/>
        </p:nvSpPr>
        <p:spPr>
          <a:xfrm>
            <a:off x="9103986" y="3154660"/>
            <a:ext cx="2261139" cy="332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scaler.pkl</a:t>
            </a: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saved alongside the model for deployment-ready inference pipeline.</a:t>
            </a:r>
            <a:endParaRPr lang="en-US" sz="950" dirty="0"/>
          </a:p>
        </p:txBody>
      </p:sp>
      <p:sp>
        <p:nvSpPr>
          <p:cNvPr id="41" name="Shape 36"/>
          <p:cNvSpPr/>
          <p:nvPr/>
        </p:nvSpPr>
        <p:spPr>
          <a:xfrm>
            <a:off x="6251220" y="3890268"/>
            <a:ext cx="5248739" cy="546894"/>
          </a:xfrm>
          <a:prstGeom prst="roundRect">
            <a:avLst>
              <a:gd name="adj" fmla="val 3351"/>
            </a:avLst>
          </a:prstGeom>
          <a:solidFill>
            <a:srgbClr val="183A13"/>
          </a:solidFill>
          <a:ln/>
        </p:spPr>
      </p:sp>
      <p:pic>
        <p:nvPicPr>
          <p:cNvPr id="4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3355" y="4062909"/>
            <a:ext cx="152694" cy="122138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6648184" y="3997623"/>
            <a:ext cx="4729639" cy="332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Random Forest (R² = 0.767) outperforms all other models and is selected as the primary model for the project.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92435"/>
            <a:ext cx="10795524" cy="3593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FFD1A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Progress Report 3 — Summary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698086" y="1165622"/>
            <a:ext cx="524873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✅</a:t>
            </a:r>
            <a:r>
              <a:rPr lang="en-US" sz="11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Completed Tasks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3824" y="1453852"/>
            <a:ext cx="183252" cy="18325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5050" y="1447800"/>
            <a:ext cx="4851775" cy="172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✅</a:t>
            </a: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Feature Engineering &amp; Column Selection</a:t>
            </a:r>
            <a:endParaRPr lang="en-US" sz="9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3824" y="1997472"/>
            <a:ext cx="183252" cy="18325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95050" y="1991420"/>
            <a:ext cx="4851775" cy="172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✅</a:t>
            </a: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One-Hot Encoding (area_type &amp; location)</a:t>
            </a:r>
            <a:endParaRPr lang="en-US" sz="9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3824" y="2541091"/>
            <a:ext cx="183252" cy="18325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95050" y="2535039"/>
            <a:ext cx="4851775" cy="172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✅</a:t>
            </a: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Feature Scaling (StandardScaler)</a:t>
            </a:r>
            <a:endParaRPr lang="en-US" sz="9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3824" y="3084711"/>
            <a:ext cx="183252" cy="18325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95050" y="3078659"/>
            <a:ext cx="4851775" cy="172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✅</a:t>
            </a: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Train/Test Split (80% / 20%)</a:t>
            </a:r>
            <a:endParaRPr lang="en-US" sz="9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3824" y="3628330"/>
            <a:ext cx="183252" cy="183257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95050" y="3622278"/>
            <a:ext cx="4851775" cy="172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✅</a:t>
            </a: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Linear Regression Model</a:t>
            </a:r>
            <a:endParaRPr lang="en-US" sz="95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3824" y="4171950"/>
            <a:ext cx="183252" cy="183257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095050" y="4165898"/>
            <a:ext cx="4851775" cy="172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✅</a:t>
            </a: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Decision Tree Regressor</a:t>
            </a:r>
            <a:endParaRPr lang="en-US" sz="95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3824" y="4715570"/>
            <a:ext cx="183252" cy="183257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1095050" y="4709517"/>
            <a:ext cx="4851775" cy="172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✅</a:t>
            </a: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Random Forest Regressor</a:t>
            </a:r>
            <a:endParaRPr lang="en-US" sz="950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3824" y="5259189"/>
            <a:ext cx="183252" cy="183257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1095050" y="5253137"/>
            <a:ext cx="4851775" cy="172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✅</a:t>
            </a: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Model Comparison &amp; Best Model Selection</a:t>
            </a:r>
            <a:endParaRPr lang="en-US" sz="950" dirty="0"/>
          </a:p>
        </p:txBody>
      </p:sp>
      <p:pic>
        <p:nvPicPr>
          <p:cNvPr id="20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3824" y="5802809"/>
            <a:ext cx="183252" cy="183257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1095050" y="5796756"/>
            <a:ext cx="4851775" cy="172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✅</a:t>
            </a: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Model Saved as </a:t>
            </a:r>
            <a:r>
              <a:rPr lang="en-US" sz="95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best_ml_model.pkl</a:t>
            </a:r>
            <a:endParaRPr lang="en-US" sz="950" dirty="0"/>
          </a:p>
        </p:txBody>
      </p:sp>
      <p:sp>
        <p:nvSpPr>
          <p:cNvPr id="22" name="Text 11"/>
          <p:cNvSpPr/>
          <p:nvPr/>
        </p:nvSpPr>
        <p:spPr>
          <a:xfrm>
            <a:off x="6251220" y="1165622"/>
            <a:ext cx="5248739" cy="179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PR3 Deliverables</a:t>
            </a:r>
            <a:endParaRPr lang="en-US" sz="1100" dirty="0"/>
          </a:p>
        </p:txBody>
      </p:sp>
      <p:sp>
        <p:nvSpPr>
          <p:cNvPr id="23" name="Shape 12"/>
          <p:cNvSpPr/>
          <p:nvPr/>
        </p:nvSpPr>
        <p:spPr>
          <a:xfrm>
            <a:off x="6251220" y="1441450"/>
            <a:ext cx="2581607" cy="841673"/>
          </a:xfrm>
          <a:prstGeom prst="roundRect">
            <a:avLst>
              <a:gd name="adj" fmla="val 2177"/>
            </a:avLst>
          </a:prstGeom>
          <a:solidFill>
            <a:srgbClr val="304755"/>
          </a:solidFill>
          <a:ln/>
        </p:spPr>
      </p:sp>
      <p:sp>
        <p:nvSpPr>
          <p:cNvPr id="24" name="Text 13"/>
          <p:cNvSpPr/>
          <p:nvPr/>
        </p:nvSpPr>
        <p:spPr>
          <a:xfrm>
            <a:off x="6373355" y="1563588"/>
            <a:ext cx="2337337" cy="179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best_ml_model.pkl</a:t>
            </a:r>
            <a:endParaRPr lang="en-US" sz="1100" dirty="0"/>
          </a:p>
        </p:txBody>
      </p:sp>
      <p:sp>
        <p:nvSpPr>
          <p:cNvPr id="25" name="Text 14"/>
          <p:cNvSpPr/>
          <p:nvPr/>
        </p:nvSpPr>
        <p:spPr>
          <a:xfrm>
            <a:off x="6373355" y="1828800"/>
            <a:ext cx="2337337" cy="332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Trained Random Forest model — deployment-ready</a:t>
            </a:r>
            <a:endParaRPr lang="en-US" sz="950" dirty="0"/>
          </a:p>
        </p:txBody>
      </p:sp>
      <p:sp>
        <p:nvSpPr>
          <p:cNvPr id="26" name="Shape 15"/>
          <p:cNvSpPr/>
          <p:nvPr/>
        </p:nvSpPr>
        <p:spPr>
          <a:xfrm>
            <a:off x="8918352" y="1441450"/>
            <a:ext cx="2581607" cy="841673"/>
          </a:xfrm>
          <a:prstGeom prst="roundRect">
            <a:avLst>
              <a:gd name="adj" fmla="val 2177"/>
            </a:avLst>
          </a:prstGeom>
          <a:solidFill>
            <a:srgbClr val="304755"/>
          </a:solidFill>
          <a:ln/>
        </p:spPr>
      </p:sp>
      <p:sp>
        <p:nvSpPr>
          <p:cNvPr id="27" name="Text 16"/>
          <p:cNvSpPr/>
          <p:nvPr/>
        </p:nvSpPr>
        <p:spPr>
          <a:xfrm>
            <a:off x="9040487" y="1563588"/>
            <a:ext cx="2337337" cy="179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scaler.pkl</a:t>
            </a:r>
            <a:endParaRPr lang="en-US" sz="1100" dirty="0"/>
          </a:p>
        </p:txBody>
      </p:sp>
      <p:sp>
        <p:nvSpPr>
          <p:cNvPr id="28" name="Text 17"/>
          <p:cNvSpPr/>
          <p:nvPr/>
        </p:nvSpPr>
        <p:spPr>
          <a:xfrm>
            <a:off x="9040487" y="1828800"/>
            <a:ext cx="2337337" cy="332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Fitted StandardScaler for inference consistency</a:t>
            </a:r>
            <a:endParaRPr lang="en-US" sz="950" dirty="0"/>
          </a:p>
        </p:txBody>
      </p:sp>
      <p:sp>
        <p:nvSpPr>
          <p:cNvPr id="29" name="Shape 18"/>
          <p:cNvSpPr/>
          <p:nvPr/>
        </p:nvSpPr>
        <p:spPr>
          <a:xfrm>
            <a:off x="6251220" y="2368649"/>
            <a:ext cx="2581607" cy="675580"/>
          </a:xfrm>
          <a:prstGeom prst="roundRect">
            <a:avLst>
              <a:gd name="adj" fmla="val 2713"/>
            </a:avLst>
          </a:prstGeom>
          <a:solidFill>
            <a:srgbClr val="304755"/>
          </a:solidFill>
          <a:ln/>
        </p:spPr>
      </p:sp>
      <p:sp>
        <p:nvSpPr>
          <p:cNvPr id="30" name="Text 19"/>
          <p:cNvSpPr/>
          <p:nvPr/>
        </p:nvSpPr>
        <p:spPr>
          <a:xfrm>
            <a:off x="6373355" y="2490788"/>
            <a:ext cx="2337337" cy="179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Evaluation Results</a:t>
            </a:r>
            <a:endParaRPr lang="en-US" sz="1100" dirty="0"/>
          </a:p>
        </p:txBody>
      </p:sp>
      <p:sp>
        <p:nvSpPr>
          <p:cNvPr id="31" name="Text 20"/>
          <p:cNvSpPr/>
          <p:nvPr/>
        </p:nvSpPr>
        <p:spPr>
          <a:xfrm>
            <a:off x="6373355" y="2755999"/>
            <a:ext cx="2337337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R², MAE, RMSE comparison across all models</a:t>
            </a:r>
            <a:endParaRPr lang="en-US" sz="950" dirty="0"/>
          </a:p>
        </p:txBody>
      </p:sp>
      <p:sp>
        <p:nvSpPr>
          <p:cNvPr id="32" name="Shape 21"/>
          <p:cNvSpPr/>
          <p:nvPr/>
        </p:nvSpPr>
        <p:spPr>
          <a:xfrm>
            <a:off x="8918352" y="2368649"/>
            <a:ext cx="2581607" cy="675580"/>
          </a:xfrm>
          <a:prstGeom prst="roundRect">
            <a:avLst>
              <a:gd name="adj" fmla="val 2713"/>
            </a:avLst>
          </a:prstGeom>
          <a:solidFill>
            <a:srgbClr val="304755"/>
          </a:solidFill>
          <a:ln/>
        </p:spPr>
      </p:sp>
      <p:sp>
        <p:nvSpPr>
          <p:cNvPr id="33" name="Text 22"/>
          <p:cNvSpPr/>
          <p:nvPr/>
        </p:nvSpPr>
        <p:spPr>
          <a:xfrm>
            <a:off x="9040487" y="2490788"/>
            <a:ext cx="2337337" cy="179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Engineered Dataset</a:t>
            </a:r>
            <a:endParaRPr lang="en-US" sz="1100" dirty="0"/>
          </a:p>
        </p:txBody>
      </p:sp>
      <p:sp>
        <p:nvSpPr>
          <p:cNvPr id="34" name="Text 23"/>
          <p:cNvSpPr/>
          <p:nvPr/>
        </p:nvSpPr>
        <p:spPr>
          <a:xfrm>
            <a:off x="9040487" y="2755999"/>
            <a:ext cx="2337337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9,688 × 190 feature-encoded dataset (CSV)</a:t>
            </a:r>
            <a:endParaRPr lang="en-US" sz="950" dirty="0"/>
          </a:p>
        </p:txBody>
      </p:sp>
      <p:sp>
        <p:nvSpPr>
          <p:cNvPr id="35" name="Shape 24"/>
          <p:cNvSpPr/>
          <p:nvPr/>
        </p:nvSpPr>
        <p:spPr>
          <a:xfrm>
            <a:off x="6251220" y="3170833"/>
            <a:ext cx="5248739" cy="12700"/>
          </a:xfrm>
          <a:prstGeom prst="roundRect">
            <a:avLst>
              <a:gd name="adj" fmla="val 59999"/>
            </a:avLst>
          </a:prstGeom>
          <a:solidFill>
            <a:srgbClr val="CAD6DE">
              <a:alpha val="50000"/>
            </a:srgbClr>
          </a:solidFill>
          <a:ln/>
        </p:spPr>
      </p:sp>
      <p:sp>
        <p:nvSpPr>
          <p:cNvPr id="36" name="Text 25"/>
          <p:cNvSpPr/>
          <p:nvPr/>
        </p:nvSpPr>
        <p:spPr>
          <a:xfrm>
            <a:off x="8124126" y="4104084"/>
            <a:ext cx="1502730" cy="305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4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38%</a:t>
            </a:r>
            <a:endParaRPr lang="en-US" sz="2400" dirty="0"/>
          </a:p>
        </p:txBody>
      </p:sp>
      <p:pic>
        <p:nvPicPr>
          <p:cNvPr id="37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9228" y="3340596"/>
            <a:ext cx="1832624" cy="1832670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6251220" y="5289252"/>
            <a:ext cx="5248739" cy="179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Project Complete</a:t>
            </a:r>
            <a:endParaRPr lang="en-US" sz="1100" dirty="0"/>
          </a:p>
        </p:txBody>
      </p:sp>
      <p:sp>
        <p:nvSpPr>
          <p:cNvPr id="39" name="Text 27"/>
          <p:cNvSpPr/>
          <p:nvPr/>
        </p:nvSpPr>
        <p:spPr>
          <a:xfrm>
            <a:off x="6251220" y="5554464"/>
            <a:ext cx="5248739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9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35–40% overall project progress achieved by end of PR3.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38758"/>
            <a:ext cx="10795524" cy="410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FFD1A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Next Progress Report (PR4)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698086" y="1172666"/>
            <a:ext cx="11405108" cy="201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Topic: Deep Learning Model</a:t>
            </a: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— Expected Submission: </a:t>
            </a:r>
            <a:r>
              <a:rPr lang="en-US" sz="10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08 August 2026</a:t>
            </a: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· Expected Progress: </a:t>
            </a:r>
            <a:r>
              <a:rPr lang="en-US" sz="1050" b="1" dirty="0">
                <a:solidFill>
                  <a:srgbClr val="0A988B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55–60% Completion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98086" y="1610916"/>
            <a:ext cx="5227408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Upcoming Work</a:t>
            </a:r>
            <a:endParaRPr lang="en-US" sz="12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1959372"/>
            <a:ext cx="139597" cy="13960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98086" y="2160091"/>
            <a:ext cx="5227408" cy="1905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7" name="Text 4"/>
          <p:cNvSpPr/>
          <p:nvPr/>
        </p:nvSpPr>
        <p:spPr>
          <a:xfrm>
            <a:off x="698086" y="2267942"/>
            <a:ext cx="5227408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Prepare Deep Learning Pipeline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98086" y="2584946"/>
            <a:ext cx="5227408" cy="201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Reformat and normalize data specifically for neural network input layers.</a:t>
            </a:r>
            <a:endParaRPr lang="en-US" sz="10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086" y="3019723"/>
            <a:ext cx="139597" cy="139601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98086" y="3220442"/>
            <a:ext cx="5227408" cy="1905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11" name="Text 7"/>
          <p:cNvSpPr/>
          <p:nvPr/>
        </p:nvSpPr>
        <p:spPr>
          <a:xfrm>
            <a:off x="698086" y="3328293"/>
            <a:ext cx="5227408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Build ANN (TensorFlow / Keras)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698086" y="3645297"/>
            <a:ext cx="5227408" cy="201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Design an Artificial Neural Network with input, hidden, and output layers for regression.</a:t>
            </a:r>
            <a:endParaRPr lang="en-US" sz="10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8086" y="4080073"/>
            <a:ext cx="139597" cy="139601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98086" y="4280793"/>
            <a:ext cx="5227408" cy="1905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15" name="Text 10"/>
          <p:cNvSpPr/>
          <p:nvPr/>
        </p:nvSpPr>
        <p:spPr>
          <a:xfrm>
            <a:off x="698086" y="4388644"/>
            <a:ext cx="5227408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Hyperparameter Tuning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698086" y="4705648"/>
            <a:ext cx="5227408" cy="201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Optimize epochs, batch size, and learning rate for best generalization performance.</a:t>
            </a:r>
            <a:endParaRPr lang="en-US" sz="10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8086" y="5140424"/>
            <a:ext cx="139597" cy="139601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98086" y="5341144"/>
            <a:ext cx="5227408" cy="1905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19" name="Text 13"/>
          <p:cNvSpPr/>
          <p:nvPr/>
        </p:nvSpPr>
        <p:spPr>
          <a:xfrm>
            <a:off x="698086" y="5448995"/>
            <a:ext cx="5227408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Compare ANN vs ML Models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698086" y="5765998"/>
            <a:ext cx="5227408" cy="201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Benchmark ANN against Random Forest &amp; Linear Regression; select overall best model.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6272552" y="1610916"/>
            <a:ext cx="5227408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ANN Architecture (Planned)</a:t>
            </a:r>
            <a:endParaRPr lang="en-US" sz="125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2552" y="1941909"/>
            <a:ext cx="4181866" cy="235227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272552" y="4419798"/>
            <a:ext cx="5227408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Expected PR4 Deliverables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6272552" y="4750792"/>
            <a:ext cx="2557895" cy="1442740"/>
          </a:xfrm>
          <a:prstGeom prst="roundRect">
            <a:avLst>
              <a:gd name="adj" fmla="val 1452"/>
            </a:avLst>
          </a:prstGeom>
          <a:solidFill>
            <a:srgbClr val="112836"/>
          </a:solidFill>
          <a:ln w="19050">
            <a:solidFill>
              <a:srgbClr val="49606E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6431198" y="4909443"/>
            <a:ext cx="2240601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Trained ANN Model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6431198" y="5226447"/>
            <a:ext cx="2240601" cy="414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Keras model saved in </a:t>
            </a:r>
            <a:r>
              <a:rPr lang="en-US" sz="105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.h5</a:t>
            </a: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or </a:t>
            </a:r>
            <a:r>
              <a:rPr lang="en-US" sz="105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SavedModel</a:t>
            </a: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format for deployment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8942065" y="4750792"/>
            <a:ext cx="2557895" cy="1442740"/>
          </a:xfrm>
          <a:prstGeom prst="roundRect">
            <a:avLst>
              <a:gd name="adj" fmla="val 1452"/>
            </a:avLst>
          </a:prstGeom>
          <a:solidFill>
            <a:srgbClr val="112836"/>
          </a:solidFill>
          <a:ln w="19050">
            <a:solidFill>
              <a:srgbClr val="49606E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9100711" y="4909443"/>
            <a:ext cx="2240601" cy="410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Performance Comparison Table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9100711" y="5431830"/>
            <a:ext cx="2240601" cy="6030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ANN vs ML models — R², MAE, RMSE side-by-side with final model recommendation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498872"/>
            <a:ext cx="10795524" cy="177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CEC99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PR3 Technical Roadmap</a:t>
            </a:r>
          </a:p>
          <a:p>
            <a:pPr marL="0" indent="0" algn="l">
              <a:lnSpc>
                <a:spcPct val="104000"/>
              </a:lnSpc>
              <a:buNone/>
            </a:pP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98086" y="717649"/>
            <a:ext cx="11405108" cy="64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End-to-end pipeline from raw data to saved ML model — all 8 steps completed in PR3.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9675" y="805755"/>
            <a:ext cx="6792346" cy="25488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87798" y="2741645"/>
            <a:ext cx="1024475" cy="185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Train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896679" y="2741645"/>
            <a:ext cx="1024475" cy="185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Scale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612576" y="2741645"/>
            <a:ext cx="1024475" cy="185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Train/Test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328473" y="2648887"/>
            <a:ext cx="1024475" cy="371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Feature Eng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3016303" y="2741645"/>
            <a:ext cx="1024475" cy="185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Load Data</a:t>
            </a:r>
            <a:endParaRPr lang="en-US" sz="11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0016" y="3159225"/>
            <a:ext cx="7707086" cy="28930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8086" y="6294239"/>
            <a:ext cx="11405108" cy="64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900" b="1" dirty="0">
                <a:solidFill>
                  <a:srgbClr val="0A988B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Random Forest (R² = 0.767) emerged as the best-performing model and was persisted as best_ml_model.pkl alongside scaler.pkl for deployment.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1026</Words>
  <Application>Microsoft Office PowerPoint</Application>
  <PresentationFormat>Widescreen</PresentationFormat>
  <Paragraphs>142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Unbounded</vt:lpstr>
      <vt:lpstr>Arial</vt:lpstr>
      <vt:lpstr>Consolas</vt:lpstr>
      <vt:lpstr>Cabin</vt:lpstr>
      <vt:lpstr>Cabin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Ravi Patel</dc:creator>
  <cp:lastModifiedBy>Ravi Patel</cp:lastModifiedBy>
  <cp:revision>2</cp:revision>
  <dcterms:created xsi:type="dcterms:W3CDTF">2026-07-19T03:55:06Z</dcterms:created>
  <dcterms:modified xsi:type="dcterms:W3CDTF">2026-07-20T04:32:14Z</dcterms:modified>
</cp:coreProperties>
</file>