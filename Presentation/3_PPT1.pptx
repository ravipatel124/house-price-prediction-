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Cabin" panose="020B0604020202020204" charset="0"/>
      <p:regular r:id="rId10"/>
    </p:embeddedFont>
    <p:embeddedFont>
      <p:font typeface="Cabin Bold" panose="020B0604020202020204" charset="0"/>
      <p:regular r:id="rId11"/>
    </p:embeddedFont>
    <p:embeddedFont>
      <p:font typeface="Unbounded" panose="020B0604020202020204" charset="0"/>
      <p:regular r:id="rId12"/>
    </p:embeddedFont>
    <p:embeddedFont>
      <p:font typeface="Unbounded Bold" panose="020B0604020202020204" charset="0"/>
      <p:regular r:id="rId13"/>
    </p:embeddedFont>
    <p:embeddedFont>
      <p:font typeface="Unbounded L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56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05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7068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AI/ML-Based House Price Prediction  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70521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Progress Report 3</a:t>
            </a: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— Feature Engineering &amp; Machine Learning Models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3577" y="2114848"/>
            <a:ext cx="2253555" cy="227335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5" name="Text 3"/>
          <p:cNvSpPr/>
          <p:nvPr/>
        </p:nvSpPr>
        <p:spPr>
          <a:xfrm>
            <a:off x="613321" y="2159719"/>
            <a:ext cx="2531269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CE0727 — SOFTWARE GROUP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51919" y="2114848"/>
            <a:ext cx="870942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41662" y="2159719"/>
            <a:ext cx="1148655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25 JULY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3577" y="2510433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Team: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Ravi Patel (IU2341050103) 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3577" y="2918073"/>
            <a:ext cx="8096845" cy="6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                  Kenil Patel (IU2341050105) 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                  Vishnu Jikadara (IU2341050114)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3577" y="3733354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Guide: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Dhwani Hakani Ma'am |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College: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Indus Institute of Technology and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2672"/>
            <a:ext cx="809684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Engineering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3577" y="1067098"/>
            <a:ext cx="8096845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 transformed the cleaned dataset into a machine learning-ready dataset — encoding, scaling, and structuring features for optimal model training.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438921"/>
            <a:ext cx="2618929" cy="146171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7964" y="1756916"/>
            <a:ext cx="2512144" cy="12517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08797" y="1911548"/>
            <a:ext cx="2126679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One-Hot Encoding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3708797" y="2233836"/>
            <a:ext cx="2126679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Converted categorical features (e.g. Location) into numeric binary columns for model compatibility.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2966" y="1756916"/>
            <a:ext cx="2512144" cy="12517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43799" y="1911548"/>
            <a:ext cx="2126679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Scaling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343799" y="2233836"/>
            <a:ext cx="2126679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Normalized numerical values where required to ensure model stability and convergence.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7964" y="3131493"/>
            <a:ext cx="2512144" cy="145114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708797" y="3286125"/>
            <a:ext cx="2126679" cy="398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Input Features (X) &amp; Target (y)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3708797" y="3807842"/>
            <a:ext cx="2126679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Assembled all independent variables for training; isolated house price as the prediction output.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2966" y="3131493"/>
            <a:ext cx="2512144" cy="145114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43799" y="3286125"/>
            <a:ext cx="2126679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Outcome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6343799" y="3608412"/>
            <a:ext cx="2126679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Improved data quality and consistency for accurate, reliable model training.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8877"/>
            <a:ext cx="8096845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Preparation — Train/Test Split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3577" y="1078781"/>
            <a:ext cx="809684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engineered dataset was divided to enable fair and unbiased model evaluation — preventing overfitting and ensuring generalizable predictions across new property inputs.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788691"/>
            <a:ext cx="3880172" cy="2792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5013" y="1772766"/>
            <a:ext cx="3880172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80/20?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745013" y="2118643"/>
            <a:ext cx="1876499" cy="1453455"/>
          </a:xfrm>
          <a:prstGeom prst="roundRect">
            <a:avLst>
              <a:gd name="adj" fmla="val 1423"/>
            </a:avLst>
          </a:pr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4882902" y="2256532"/>
            <a:ext cx="1600721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80% Training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882902" y="2586484"/>
            <a:ext cx="1600721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Used to fit and learn patterns from the dataset — the model sees this data during training.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48611" y="2118643"/>
            <a:ext cx="1876574" cy="1453455"/>
          </a:xfrm>
          <a:prstGeom prst="roundRect">
            <a:avLst>
              <a:gd name="adj" fmla="val 1423"/>
            </a:avLst>
          </a:prstGeom>
          <a:solidFill>
            <a:srgbClr val="304755"/>
          </a:solidFill>
          <a:ln/>
        </p:spPr>
      </p:sp>
      <p:sp>
        <p:nvSpPr>
          <p:cNvPr id="10" name="Text 7"/>
          <p:cNvSpPr/>
          <p:nvPr/>
        </p:nvSpPr>
        <p:spPr>
          <a:xfrm>
            <a:off x="6886501" y="2256532"/>
            <a:ext cx="160079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20% Testing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86501" y="2586484"/>
            <a:ext cx="1600795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Held out as unseen data to evaluate real-world performance and detect overfitting.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45013" y="3715122"/>
            <a:ext cx="3880172" cy="721519"/>
          </a:xfrm>
          <a:prstGeom prst="roundRect">
            <a:avLst>
              <a:gd name="adj" fmla="val 2867"/>
            </a:avLst>
          </a:prstGeom>
          <a:solidFill>
            <a:srgbClr val="08786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902" y="3919165"/>
            <a:ext cx="172343" cy="13788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134" y="3863950"/>
            <a:ext cx="3294162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Unseen test data guarantees reliable, generalizable price predictions on new property inputs.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4284" b="23462"/>
          <a:stretch>
            <a:fillRect/>
          </a:stretch>
        </p:blipFill>
        <p:spPr>
          <a:xfrm>
            <a:off x="0" y="0"/>
            <a:ext cx="6553200" cy="20468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851" y="2183287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Machine Learning Models Implemented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201512" y="2482007"/>
            <a:ext cx="855404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Four regression algorithms were trained on the same dataset to ensure a fair, objective comparison.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64851" y="2836626"/>
            <a:ext cx="4029745" cy="633413"/>
          </a:xfrm>
          <a:prstGeom prst="roundRect">
            <a:avLst>
              <a:gd name="adj" fmla="val 1772"/>
            </a:avLst>
          </a:prstGeom>
          <a:solidFill>
            <a:srgbClr val="304755"/>
          </a:solidFill>
          <a:ln/>
        </p:spPr>
      </p:sp>
      <p:sp>
        <p:nvSpPr>
          <p:cNvPr id="6" name="Shape 3"/>
          <p:cNvSpPr/>
          <p:nvPr/>
        </p:nvSpPr>
        <p:spPr>
          <a:xfrm>
            <a:off x="193350" y="2853609"/>
            <a:ext cx="224358" cy="224358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040" y="2915224"/>
            <a:ext cx="100980" cy="1009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362" y="2939047"/>
            <a:ext cx="3880172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Linear Regression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598363" y="3210329"/>
            <a:ext cx="3880172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Baseline model establishing a linear relationship between features and price.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478535" y="2840016"/>
            <a:ext cx="4410425" cy="633413"/>
          </a:xfrm>
          <a:prstGeom prst="roundRect">
            <a:avLst>
              <a:gd name="adj" fmla="val 177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Shape 7"/>
          <p:cNvSpPr/>
          <p:nvPr/>
        </p:nvSpPr>
        <p:spPr>
          <a:xfrm>
            <a:off x="4573661" y="2936075"/>
            <a:ext cx="224358" cy="224358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6173" y="3007955"/>
            <a:ext cx="100980" cy="1009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08788" y="2993229"/>
            <a:ext cx="3880172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Decision Tree Regressor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5008788" y="3223482"/>
            <a:ext cx="3880172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Rule-based model capturing non-linear feature splits across the data.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183528" y="3970197"/>
            <a:ext cx="4029745" cy="633413"/>
          </a:xfrm>
          <a:prstGeom prst="roundRect">
            <a:avLst>
              <a:gd name="adj" fmla="val 1772"/>
            </a:avLst>
          </a:prstGeom>
          <a:solidFill>
            <a:srgbClr val="304755"/>
          </a:solidFill>
          <a:ln/>
        </p:spPr>
      </p:sp>
      <p:sp>
        <p:nvSpPr>
          <p:cNvPr id="16" name="Shape 11"/>
          <p:cNvSpPr/>
          <p:nvPr/>
        </p:nvSpPr>
        <p:spPr>
          <a:xfrm>
            <a:off x="201512" y="4027985"/>
            <a:ext cx="224358" cy="224358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5040" y="4089674"/>
            <a:ext cx="100980" cy="1009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8363" y="4089674"/>
            <a:ext cx="3880172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Random Forest Regressor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598362" y="4365329"/>
            <a:ext cx="3880172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Ensemble of decision trees reducing variance and improving overall accuracy.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478534" y="3928358"/>
            <a:ext cx="4410425" cy="633413"/>
          </a:xfrm>
          <a:prstGeom prst="roundRect">
            <a:avLst>
              <a:gd name="adj" fmla="val 1772"/>
            </a:avLst>
          </a:prstGeom>
          <a:solidFill>
            <a:srgbClr val="304755"/>
          </a:solidFill>
          <a:ln/>
        </p:spPr>
      </p:sp>
      <p:sp>
        <p:nvSpPr>
          <p:cNvPr id="21" name="Shape 15"/>
          <p:cNvSpPr/>
          <p:nvPr/>
        </p:nvSpPr>
        <p:spPr>
          <a:xfrm>
            <a:off x="4560002" y="4073062"/>
            <a:ext cx="224358" cy="224358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6173" y="4119271"/>
            <a:ext cx="100980" cy="1009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08787" y="4077056"/>
            <a:ext cx="3880172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XGBoost Regressor</a:t>
            </a:r>
            <a:endParaRPr lang="en-US" sz="650" dirty="0"/>
          </a:p>
        </p:txBody>
      </p:sp>
      <p:sp>
        <p:nvSpPr>
          <p:cNvPr id="24" name="Text 17"/>
          <p:cNvSpPr/>
          <p:nvPr/>
        </p:nvSpPr>
        <p:spPr>
          <a:xfrm>
            <a:off x="5008787" y="4365329"/>
            <a:ext cx="3880172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Gradient boosting model for high-performance, state-of-the-art prediction.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7349"/>
            <a:ext cx="8096845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Evaluation &amp; Best Model Selection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3577" y="1094929"/>
            <a:ext cx="3894460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Evaluation Metrics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905" y="1404342"/>
            <a:ext cx="189309" cy="1893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748" y="1400398"/>
            <a:ext cx="3484290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R² Score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933748" y="1692548"/>
            <a:ext cx="3484290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Measures the proportion of variance in house prices explained by the model. Higher is better.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905" y="2281684"/>
            <a:ext cx="189309" cy="1893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3748" y="2277740"/>
            <a:ext cx="3484290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MAE — Mean Absolute Error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933748" y="2569890"/>
            <a:ext cx="3484290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Average prediction deviation in original price units. Lower is better.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905" y="3159026"/>
            <a:ext cx="189309" cy="1893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3748" y="3155082"/>
            <a:ext cx="3484290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MSE / RMSE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933748" y="3447231"/>
            <a:ext cx="3484290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Penalizes larger errors; root form keeps units interpretable. Lower is better.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23577" y="3939257"/>
            <a:ext cx="3894460" cy="627013"/>
          </a:xfrm>
          <a:prstGeom prst="roundRect">
            <a:avLst>
              <a:gd name="adj" fmla="val 3020"/>
            </a:avLst>
          </a:prstGeom>
          <a:solidFill>
            <a:srgbClr val="183A13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84" y="4124697"/>
            <a:ext cx="157758" cy="1262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3748" y="4066654"/>
            <a:ext cx="3358083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Best model saved as </a:t>
            </a: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best_ml_model.pkl</a:t>
            </a:r>
            <a:r>
              <a:rPr lang="en-US" sz="9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Scaler saved as </a:t>
            </a: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scaler.pkl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730725" y="1094929"/>
            <a:ext cx="3894460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Comparison Table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730725" y="1400398"/>
            <a:ext cx="3894460" cy="1645221"/>
          </a:xfrm>
          <a:prstGeom prst="roundRect">
            <a:avLst>
              <a:gd name="adj" fmla="val 115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730725" y="1730871"/>
            <a:ext cx="3894460" cy="789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9" name="Shape 13"/>
          <p:cNvSpPr/>
          <p:nvPr/>
        </p:nvSpPr>
        <p:spPr>
          <a:xfrm>
            <a:off x="4730725" y="2058963"/>
            <a:ext cx="3894460" cy="789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4730725" y="2387054"/>
            <a:ext cx="3894460" cy="789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4730725" y="2715146"/>
            <a:ext cx="3894460" cy="789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4735637" y="1405161"/>
            <a:ext cx="1320850" cy="325710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23" name="Text 17"/>
          <p:cNvSpPr/>
          <p:nvPr/>
        </p:nvSpPr>
        <p:spPr>
          <a:xfrm>
            <a:off x="4861843" y="1473771"/>
            <a:ext cx="1525637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Model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056486" y="1405161"/>
            <a:ext cx="854646" cy="325710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25" name="Text 19"/>
          <p:cNvSpPr/>
          <p:nvPr/>
        </p:nvSpPr>
        <p:spPr>
          <a:xfrm>
            <a:off x="6182692" y="1473771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R² Score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911132" y="1405161"/>
            <a:ext cx="854646" cy="325710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27" name="Text 21"/>
          <p:cNvSpPr/>
          <p:nvPr/>
        </p:nvSpPr>
        <p:spPr>
          <a:xfrm>
            <a:off x="7037338" y="1473771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MAE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65777" y="1405161"/>
            <a:ext cx="854646" cy="325710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29" name="Text 23"/>
          <p:cNvSpPr/>
          <p:nvPr/>
        </p:nvSpPr>
        <p:spPr>
          <a:xfrm>
            <a:off x="7891983" y="1473771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RMSE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861843" y="1801862"/>
            <a:ext cx="1525637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182692" y="1801862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~0.82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037338" y="1801862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~X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7891983" y="1801862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~Y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4861843" y="2129954"/>
            <a:ext cx="1525637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6182692" y="2129954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~0.85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7037338" y="2129954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~X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7891983" y="2129954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~Y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861843" y="2458045"/>
            <a:ext cx="1525637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6182692" y="2458045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~0.91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7037338" y="2458045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~X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7891983" y="2458045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~Y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4861843" y="2786137"/>
            <a:ext cx="1525637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XGBoost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6182692" y="2786137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~0.93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7037338" y="2786137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~X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7891983" y="2786137"/>
            <a:ext cx="1059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7555"/>
            <a:ext cx="8096845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Progress Report 3 — Summary &amp; Deliverables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23577" y="993577"/>
            <a:ext cx="3908747" cy="173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✅</a:t>
            </a: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Completed Tasks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3577" y="1265337"/>
            <a:ext cx="229046" cy="143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23577" y="1445642"/>
            <a:ext cx="3908747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6" name="Text 4"/>
          <p:cNvSpPr/>
          <p:nvPr/>
        </p:nvSpPr>
        <p:spPr>
          <a:xfrm>
            <a:off x="523577" y="1531441"/>
            <a:ext cx="3908747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23577" y="1787500"/>
            <a:ext cx="3908747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One-hot encoding of categorical variables + feature scaling applied.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3577" y="2122736"/>
            <a:ext cx="229046" cy="143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3577" y="2303041"/>
            <a:ext cx="3908747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0" name="Text 8"/>
          <p:cNvSpPr/>
          <p:nvPr/>
        </p:nvSpPr>
        <p:spPr>
          <a:xfrm>
            <a:off x="523577" y="2388840"/>
            <a:ext cx="3908747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Train/Test Split (80/20)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3577" y="2644899"/>
            <a:ext cx="3908747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Dataset split for unbiased model evaluation on unseen data.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3577" y="2980134"/>
            <a:ext cx="229046" cy="143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3577" y="3160440"/>
            <a:ext cx="3908747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4" name="Text 12"/>
          <p:cNvSpPr/>
          <p:nvPr/>
        </p:nvSpPr>
        <p:spPr>
          <a:xfrm>
            <a:off x="523577" y="3246239"/>
            <a:ext cx="3908747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ML Models Trained &amp; Compared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3577" y="3502298"/>
            <a:ext cx="3908747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Linear Regression, Decision Tree, Random Forest, and XGBoost evaluated.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3577" y="3837533"/>
            <a:ext cx="229046" cy="143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3577" y="4017838"/>
            <a:ext cx="3908747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8" name="Text 16"/>
          <p:cNvSpPr/>
          <p:nvPr/>
        </p:nvSpPr>
        <p:spPr>
          <a:xfrm>
            <a:off x="523577" y="4103638"/>
            <a:ext cx="3908747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Best Model Selected &amp; Saved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3577" y="4359697"/>
            <a:ext cx="3908747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Exported as </a:t>
            </a: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best_ml_model.pkl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</a:t>
            </a: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scaler.pkl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deployment.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16438" y="993577"/>
            <a:ext cx="3908747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Overall Project Progress</a:t>
            </a:r>
            <a:endParaRPr lang="en-US" sz="10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38" y="1260574"/>
            <a:ext cx="3908747" cy="281352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487838" y="4172694"/>
            <a:ext cx="4365947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~37.5% of Project Lifecycle Completed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2" y="917972"/>
            <a:ext cx="3307556" cy="33075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52577" y="449610"/>
            <a:ext cx="4667845" cy="71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Next Progress Report — PR4: Deep Learning Model</a:t>
            </a:r>
            <a:endParaRPr lang="en-US" sz="2250" dirty="0"/>
          </a:p>
        </p:txBody>
      </p:sp>
      <p:sp>
        <p:nvSpPr>
          <p:cNvPr id="5" name="Text 1"/>
          <p:cNvSpPr/>
          <p:nvPr/>
        </p:nvSpPr>
        <p:spPr>
          <a:xfrm>
            <a:off x="3952577" y="1312813"/>
            <a:ext cx="4667845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next phase transitions from classical ML to a Deep Learning approach using Artificial Neural Networks (ANN) built with TensorFlow/Keras.</a:t>
            </a:r>
            <a:endParaRPr lang="en-US" sz="9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577" y="1776487"/>
            <a:ext cx="607740" cy="72933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659064" y="1898005"/>
            <a:ext cx="396135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4659064" y="2135981"/>
            <a:ext cx="396135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Reformat dataset for ANN input layers and normalization pipeline.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577" y="2505819"/>
            <a:ext cx="607740" cy="7293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59064" y="2627337"/>
            <a:ext cx="396135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Build ANN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4659064" y="2865313"/>
            <a:ext cx="396135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Design network architecture using TensorFlow / Keras layers.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2577" y="3235151"/>
            <a:ext cx="607740" cy="7293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659064" y="3356670"/>
            <a:ext cx="396135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 &amp; Tune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4659064" y="3594646"/>
            <a:ext cx="396135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Optimize epochs, batch size, and activation functions for best performance.</a:t>
            </a:r>
            <a:endParaRPr lang="en-US" sz="9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2577" y="3964484"/>
            <a:ext cx="607740" cy="7293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659064" y="4086002"/>
            <a:ext cx="396135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Compare &amp; Deliver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4659064" y="4323978"/>
            <a:ext cx="396135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Benchmark ANN vs. all ML models. Target: </a:t>
            </a: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55–60% project completion.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619</Words>
  <Application>Microsoft Office PowerPoint</Application>
  <PresentationFormat>On-screen Show (16:9)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Cabin Bold</vt:lpstr>
      <vt:lpstr>Arial</vt:lpstr>
      <vt:lpstr>Unbounded Light</vt:lpstr>
      <vt:lpstr>Unbounded</vt:lpstr>
      <vt:lpstr>Unbounded Bold</vt:lpstr>
      <vt:lpstr>Cabin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 Patel</dc:creator>
  <cp:lastModifiedBy>Ravi Patel</cp:lastModifiedBy>
  <cp:revision>2</cp:revision>
  <dcterms:created xsi:type="dcterms:W3CDTF">2026-07-18T08:54:48Z</dcterms:created>
  <dcterms:modified xsi:type="dcterms:W3CDTF">2026-07-19T04:08:33Z</dcterms:modified>
</cp:coreProperties>
</file>