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12"/>
    </p:embeddedFont>
    <p:embeddedFont>
      <p:font typeface="Arial Rounded MT Bold" panose="020F0704030504030204" pitchFamily="34" charset="0"/>
      <p:regular r:id="rId13"/>
    </p:embeddedFont>
    <p:embeddedFont>
      <p:font typeface="Cabin"/>
      <p:regular r:id="rId14"/>
    </p:embeddedFont>
    <p:embeddedFont>
      <p:font typeface="Cabin Bold"/>
      <p:regular r:id="rId15"/>
    </p:embeddedFont>
    <p:embeddedFont>
      <p:font typeface="Open Sans" panose="020B0606030504020204" pitchFamily="34" charset="0"/>
      <p:regular r:id="rId16"/>
    </p:embeddedFont>
    <p:embeddedFont>
      <p:font typeface="Unbounded" panose="020B0604020202020204" charset="0"/>
      <p:regular r:id="rId17"/>
    </p:embeddedFont>
    <p:embeddedFont>
      <p:font typeface="Unbounded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12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8FEBB2A-F4AE-033F-CB08-3C416E05BADC}"/>
              </a:ext>
            </a:extLst>
          </p:cNvPr>
          <p:cNvSpPr/>
          <p:nvPr/>
        </p:nvSpPr>
        <p:spPr>
          <a:xfrm>
            <a:off x="809843" y="221159"/>
            <a:ext cx="752431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AI/ML-Based House Price Prediction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6C62626-C5D7-564C-BE20-90BC89045788}"/>
              </a:ext>
            </a:extLst>
          </p:cNvPr>
          <p:cNvSpPr/>
          <p:nvPr/>
        </p:nvSpPr>
        <p:spPr>
          <a:xfrm>
            <a:off x="2502893" y="708819"/>
            <a:ext cx="379545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  <a:spcAft>
                <a:spcPts val="1250"/>
              </a:spcAft>
            </a:pPr>
            <a:r>
              <a:rPr lang="en-US" sz="1400" u="sng" dirty="0">
                <a:solidFill>
                  <a:schemeClr val="accent1"/>
                </a:solidFill>
                <a:ea typeface="Open Sans" pitchFamily="34" charset="-122"/>
                <a:cs typeface="Open Sans" pitchFamily="34" charset="-120"/>
              </a:rPr>
              <a:t>Progress Report 4 — Deep Learning Model</a:t>
            </a:r>
            <a:endParaRPr lang="en-US" sz="1400" u="sng" dirty="0">
              <a:solidFill>
                <a:schemeClr val="accent1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C5AF73F-86CA-6E00-6D0B-35A20A9F3CEE}"/>
              </a:ext>
            </a:extLst>
          </p:cNvPr>
          <p:cNvSpPr/>
          <p:nvPr/>
        </p:nvSpPr>
        <p:spPr>
          <a:xfrm>
            <a:off x="767587" y="1918246"/>
            <a:ext cx="234051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5CB946E8-F299-BD2F-ECDF-D6FD65678ABC}"/>
              </a:ext>
            </a:extLst>
          </p:cNvPr>
          <p:cNvSpPr/>
          <p:nvPr/>
        </p:nvSpPr>
        <p:spPr>
          <a:xfrm>
            <a:off x="1713663" y="1934964"/>
            <a:ext cx="977994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B73F0DE-6CC9-C860-9C29-32172D4E7BDB}"/>
              </a:ext>
            </a:extLst>
          </p:cNvPr>
          <p:cNvSpPr/>
          <p:nvPr/>
        </p:nvSpPr>
        <p:spPr>
          <a:xfrm>
            <a:off x="1713663" y="2273201"/>
            <a:ext cx="977994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B19F710-1D55-39BB-49A1-225EEC3400A8}"/>
              </a:ext>
            </a:extLst>
          </p:cNvPr>
          <p:cNvSpPr/>
          <p:nvPr/>
        </p:nvSpPr>
        <p:spPr>
          <a:xfrm>
            <a:off x="1713663" y="3759101"/>
            <a:ext cx="977994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2C4D0BA4-9564-6FDC-EE5D-D9B20376E021}"/>
              </a:ext>
            </a:extLst>
          </p:cNvPr>
          <p:cNvSpPr/>
          <p:nvPr/>
        </p:nvSpPr>
        <p:spPr>
          <a:xfrm>
            <a:off x="1713663" y="4648200"/>
            <a:ext cx="977994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E38F02B9-4BC0-3741-32CD-94F3F7393D63}"/>
              </a:ext>
            </a:extLst>
          </p:cNvPr>
          <p:cNvSpPr/>
          <p:nvPr/>
        </p:nvSpPr>
        <p:spPr>
          <a:xfrm>
            <a:off x="1713663" y="4986437"/>
            <a:ext cx="977994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93F2C554-7FFC-0BDE-41E2-9237416DADA0}"/>
              </a:ext>
            </a:extLst>
          </p:cNvPr>
          <p:cNvSpPr/>
          <p:nvPr/>
        </p:nvSpPr>
        <p:spPr>
          <a:xfrm>
            <a:off x="698086" y="5722144"/>
            <a:ext cx="10795524" cy="19050"/>
          </a:xfrm>
          <a:prstGeom prst="roundRect">
            <a:avLst>
              <a:gd name="adj" fmla="val 5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07426B90-78B5-1765-F0E3-2CCAD60BB2BE}"/>
              </a:ext>
            </a:extLst>
          </p:cNvPr>
          <p:cNvSpPr/>
          <p:nvPr/>
        </p:nvSpPr>
        <p:spPr>
          <a:xfrm>
            <a:off x="393293" y="5959773"/>
            <a:ext cx="1140510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A988B"/>
                </a:solidFill>
                <a:ea typeface="Cabin Bold" pitchFamily="34" charset="-122"/>
                <a:cs typeface="Cabin Bold" pitchFamily="34" charset="-120"/>
              </a:rPr>
              <a:t>This report covers Feature Engineering, Train-Test Split, Feature Scaling, Model Training, and Model Evaluation.</a:t>
            </a:r>
            <a:endParaRPr lang="en-US" sz="1300" dirty="0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1E6B8FAF-0A40-26A8-939C-A18AA1D6D86F}"/>
              </a:ext>
            </a:extLst>
          </p:cNvPr>
          <p:cNvSpPr/>
          <p:nvPr/>
        </p:nvSpPr>
        <p:spPr>
          <a:xfrm>
            <a:off x="1361278" y="1171971"/>
            <a:ext cx="19050" cy="3625552"/>
          </a:xfrm>
          <a:prstGeom prst="roundRect">
            <a:avLst>
              <a:gd name="adj" fmla="val 130565"/>
            </a:avLst>
          </a:prstGeom>
          <a:solidFill>
            <a:srgbClr val="49606E"/>
          </a:solidFill>
          <a:ln/>
        </p:spPr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5977A72A-847D-8F0B-75A4-C97E55CE2A5D}"/>
              </a:ext>
            </a:extLst>
          </p:cNvPr>
          <p:cNvSpPr/>
          <p:nvPr/>
        </p:nvSpPr>
        <p:spPr>
          <a:xfrm>
            <a:off x="1528755" y="1322308"/>
            <a:ext cx="497371" cy="45719"/>
          </a:xfrm>
          <a:prstGeom prst="roundRect">
            <a:avLst>
              <a:gd name="adj" fmla="val 130565"/>
            </a:avLst>
          </a:prstGeom>
          <a:solidFill>
            <a:srgbClr val="49606E"/>
          </a:solidFill>
          <a:ln/>
        </p:spPr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87F971CA-4A71-EAE6-E481-D9F9B49C28E3}"/>
              </a:ext>
            </a:extLst>
          </p:cNvPr>
          <p:cNvSpPr/>
          <p:nvPr/>
        </p:nvSpPr>
        <p:spPr>
          <a:xfrm>
            <a:off x="1174752" y="1171971"/>
            <a:ext cx="373053" cy="37306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A38E028D-2E56-26A3-4121-471D6CA3FFF1}"/>
              </a:ext>
            </a:extLst>
          </p:cNvPr>
          <p:cNvSpPr/>
          <p:nvPr/>
        </p:nvSpPr>
        <p:spPr>
          <a:xfrm>
            <a:off x="1244253" y="1212204"/>
            <a:ext cx="234051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CAD6DE"/>
                </a:solidFill>
                <a:ea typeface="Unbounded" pitchFamily="34" charset="-122"/>
                <a:cs typeface="Unbounded" pitchFamily="34" charset="-120"/>
              </a:rPr>
              <a:t>1</a:t>
            </a:r>
            <a:endParaRPr lang="en-US" sz="1800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E0C2E229-2AA1-7337-3D4B-05FB099B11A0}"/>
              </a:ext>
            </a:extLst>
          </p:cNvPr>
          <p:cNvSpPr/>
          <p:nvPr/>
        </p:nvSpPr>
        <p:spPr>
          <a:xfrm>
            <a:off x="1528755" y="2808208"/>
            <a:ext cx="497371" cy="45719"/>
          </a:xfrm>
          <a:prstGeom prst="roundRect">
            <a:avLst>
              <a:gd name="adj" fmla="val 130565"/>
            </a:avLst>
          </a:prstGeom>
          <a:solidFill>
            <a:srgbClr val="49606E"/>
          </a:solidFill>
          <a:ln/>
        </p:spPr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1510CF92-B52F-0540-ECD7-A20A4A1C832C}"/>
              </a:ext>
            </a:extLst>
          </p:cNvPr>
          <p:cNvSpPr/>
          <p:nvPr/>
        </p:nvSpPr>
        <p:spPr>
          <a:xfrm>
            <a:off x="1174752" y="2657871"/>
            <a:ext cx="373053" cy="37306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677F5A14-6447-A67D-8283-D3F0E28E9E30}"/>
              </a:ext>
            </a:extLst>
          </p:cNvPr>
          <p:cNvSpPr/>
          <p:nvPr/>
        </p:nvSpPr>
        <p:spPr>
          <a:xfrm>
            <a:off x="1244253" y="2698104"/>
            <a:ext cx="234051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CAD6DE"/>
                </a:solidFill>
                <a:ea typeface="Unbounded" pitchFamily="34" charset="-122"/>
                <a:cs typeface="Unbounded" pitchFamily="34" charset="-120"/>
              </a:rPr>
              <a:t>2</a:t>
            </a:r>
            <a:endParaRPr lang="en-US" sz="1800" dirty="0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33A5AF63-5541-A4C4-4A49-6E671053272F}"/>
              </a:ext>
            </a:extLst>
          </p:cNvPr>
          <p:cNvSpPr/>
          <p:nvPr/>
        </p:nvSpPr>
        <p:spPr>
          <a:xfrm>
            <a:off x="1528755" y="4035544"/>
            <a:ext cx="497371" cy="45719"/>
          </a:xfrm>
          <a:prstGeom prst="roundRect">
            <a:avLst>
              <a:gd name="adj" fmla="val 130565"/>
            </a:avLst>
          </a:prstGeom>
          <a:solidFill>
            <a:srgbClr val="49606E"/>
          </a:solidFill>
          <a:ln/>
        </p:spPr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DC5BBC95-C80D-C437-DFCD-432331B96C4C}"/>
              </a:ext>
            </a:extLst>
          </p:cNvPr>
          <p:cNvSpPr/>
          <p:nvPr/>
        </p:nvSpPr>
        <p:spPr>
          <a:xfrm>
            <a:off x="1174752" y="3885206"/>
            <a:ext cx="373053" cy="37306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3BC2C502-751A-DC43-D116-7A90E09A0A94}"/>
              </a:ext>
            </a:extLst>
          </p:cNvPr>
          <p:cNvSpPr/>
          <p:nvPr/>
        </p:nvSpPr>
        <p:spPr>
          <a:xfrm>
            <a:off x="1244253" y="3925440"/>
            <a:ext cx="234051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CAD6DE"/>
                </a:solidFill>
                <a:ea typeface="Unbounded" pitchFamily="34" charset="-122"/>
                <a:cs typeface="Unbounded" pitchFamily="34" charset="-120"/>
              </a:rPr>
              <a:t>3</a:t>
            </a:r>
            <a:endParaRPr lang="en-US" sz="18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69F2A9-DAB5-6FEB-46B1-3946941F3661}"/>
              </a:ext>
            </a:extLst>
          </p:cNvPr>
          <p:cNvSpPr txBox="1"/>
          <p:nvPr/>
        </p:nvSpPr>
        <p:spPr>
          <a:xfrm>
            <a:off x="2026126" y="1194981"/>
            <a:ext cx="4253174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2"/>
                </a:solidFill>
                <a:ea typeface="Unbounded" pitchFamily="34" charset="-122"/>
                <a:cs typeface="Unbounded" pitchFamily="34" charset="-120"/>
              </a:rPr>
              <a:t>Team Members</a:t>
            </a:r>
          </a:p>
          <a:p>
            <a:endParaRPr lang="en-US" sz="1400" u="sng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ea typeface="Cabin" pitchFamily="34" charset="-122"/>
                <a:cs typeface="Cabin" pitchFamily="34" charset="-120"/>
              </a:rPr>
              <a:t>Ravi Patel · IU2341050103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ea typeface="Cabin" pitchFamily="34" charset="-122"/>
                <a:cs typeface="Cabin" pitchFamily="34" charset="-120"/>
              </a:rPr>
              <a:t>Kenil Patel · IU2341050105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ea typeface="Cabin" pitchFamily="34" charset="-122"/>
                <a:cs typeface="Cabin" pitchFamily="34" charset="-120"/>
              </a:rPr>
              <a:t>Vishnu </a:t>
            </a:r>
            <a:r>
              <a:rPr lang="en-US" sz="1400" b="1" dirty="0" err="1">
                <a:solidFill>
                  <a:schemeClr val="accent1">
                    <a:lumMod val="50000"/>
                  </a:schemeClr>
                </a:solidFill>
                <a:ea typeface="Cabin" pitchFamily="34" charset="-122"/>
                <a:cs typeface="Cabin" pitchFamily="34" charset="-120"/>
              </a:rPr>
              <a:t>Jikadara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ea typeface="Cabin" pitchFamily="34" charset="-122"/>
                <a:cs typeface="Cabin" pitchFamily="34" charset="-120"/>
              </a:rPr>
              <a:t> · IU2341050114</a:t>
            </a:r>
          </a:p>
          <a:p>
            <a:pPr>
              <a:lnSpc>
                <a:spcPct val="130000"/>
              </a:lnSpc>
            </a:pP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A5250A-CB3D-CEFB-543A-FDBCF3190A56}"/>
              </a:ext>
            </a:extLst>
          </p:cNvPr>
          <p:cNvSpPr txBox="1"/>
          <p:nvPr/>
        </p:nvSpPr>
        <p:spPr>
          <a:xfrm>
            <a:off x="2124102" y="2707883"/>
            <a:ext cx="3574568" cy="1298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>
                <a:solidFill>
                  <a:schemeClr val="accent1">
                    <a:lumMod val="50000"/>
                  </a:schemeClr>
                </a:solidFill>
                <a:ea typeface="Unbounded" pitchFamily="34" charset="-122"/>
                <a:cs typeface="Unbounded" pitchFamily="34" charset="-120"/>
              </a:rPr>
              <a:t>Project Guide</a:t>
            </a:r>
          </a:p>
          <a:p>
            <a:endParaRPr lang="en-US" sz="14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ea typeface="Cabin" pitchFamily="34" charset="-122"/>
                <a:cs typeface="Cabin" pitchFamily="34" charset="-120"/>
              </a:rPr>
              <a:t>Dhwani Hakani Ma'am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ea typeface="Cabin" pitchFamily="34" charset="-122"/>
                <a:cs typeface="Cabin" pitchFamily="34" charset="-120"/>
              </a:rPr>
              <a:t>Indus Institute of Technology and Engineering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4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8223E8-EE73-4BBA-4256-B30EE425F399}"/>
              </a:ext>
            </a:extLst>
          </p:cNvPr>
          <p:cNvSpPr txBox="1"/>
          <p:nvPr/>
        </p:nvSpPr>
        <p:spPr>
          <a:xfrm>
            <a:off x="2076577" y="3911354"/>
            <a:ext cx="4410623" cy="1087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400" b="1" u="sng" dirty="0">
                <a:solidFill>
                  <a:schemeClr val="tx2">
                    <a:lumMod val="75000"/>
                  </a:schemeClr>
                </a:solidFill>
                <a:ea typeface="Unbounded" pitchFamily="34" charset="-122"/>
                <a:cs typeface="Unbounded" pitchFamily="34" charset="-120"/>
              </a:rPr>
              <a:t>Subject &amp; Submission</a:t>
            </a: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ea typeface="Cabin" pitchFamily="34" charset="-122"/>
                <a:cs typeface="Cabin" pitchFamily="34" charset="-120"/>
              </a:rPr>
              <a:t>CE0727 — Software Group Project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ea typeface="Cabin" pitchFamily="34" charset="-122"/>
                <a:cs typeface="Cabin" pitchFamily="34" charset="-120"/>
              </a:rPr>
              <a:t>Submission: 8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ea typeface="Cabin Bold" pitchFamily="34" charset="-122"/>
                <a:cs typeface="Cabin Bold" pitchFamily="34" charset="-120"/>
              </a:rPr>
              <a:t> Aug 2026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4000"/>
              </a:lnSpc>
            </a:pPr>
            <a:endParaRPr lang="en-US" sz="1400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303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34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Arial Rounded MT Bold" panose="020F0704030504030204" pitchFamily="34" charset="0"/>
                <a:ea typeface="Unbounded Bold" pitchFamily="34" charset="-122"/>
                <a:cs typeface="Unbounded Bold" pitchFamily="34" charset="-120"/>
              </a:rPr>
              <a:t>PR4 Objectives &amp; Work Completed</a:t>
            </a:r>
            <a:endParaRPr lang="en-US" sz="2750" dirty="0">
              <a:latin typeface="Arial Rounded MT Bold" panose="020F07040305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4022" y="1817936"/>
            <a:ext cx="4107135" cy="2163217"/>
          </a:xfrm>
          <a:prstGeom prst="roundRect">
            <a:avLst>
              <a:gd name="adj" fmla="val 4719"/>
            </a:avLst>
          </a:prstGeom>
          <a:solidFill>
            <a:srgbClr val="26A688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5969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 Rounded MT Bold" panose="020F0704030504030204" pitchFamily="34" charset="0"/>
                <a:ea typeface="Unbounded Bold" pitchFamily="34" charset="-122"/>
                <a:cs typeface="Unbounded Bold" pitchFamily="34" charset="-120"/>
              </a:rPr>
              <a:t>Objectives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5781" y="2322909"/>
            <a:ext cx="3823618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 Rounded MT Bold" panose="020F0704030504030204" pitchFamily="34" charset="0"/>
                <a:ea typeface="Open Sans" pitchFamily="34" charset="-122"/>
                <a:cs typeface="Open Sans" pitchFamily="34" charset="-120"/>
              </a:rPr>
              <a:t>Build Artificial Neural Network</a:t>
            </a:r>
            <a:endParaRPr lang="en-US" sz="1100" dirty="0">
              <a:latin typeface="Arial Rounded MT Bold" panose="020F0704030504030204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 Rounded MT Bold" panose="020F0704030504030204" pitchFamily="34" charset="0"/>
                <a:ea typeface="Open Sans" pitchFamily="34" charset="-122"/>
                <a:cs typeface="Open Sans" pitchFamily="34" charset="-120"/>
              </a:rPr>
              <a:t>Improve prediction accuracy</a:t>
            </a:r>
            <a:endParaRPr lang="en-US" sz="11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195969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rial Rounded MT Bold" panose="020F0704030504030204" pitchFamily="34" charset="0"/>
                <a:ea typeface="Unbounded Bold" pitchFamily="34" charset="-122"/>
                <a:cs typeface="Unbounded Bold" pitchFamily="34" charset="-120"/>
              </a:rPr>
              <a:t>Work Completed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49701" y="2322909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Arial Rounded MT Bold" panose="020F0704030504030204" pitchFamily="34" charset="0"/>
                <a:ea typeface="Open Sans" pitchFamily="34" charset="-122"/>
                <a:cs typeface="Open Sans" pitchFamily="34" charset="-120"/>
              </a:rPr>
              <a:t>Prepared dataset for Deep Learning</a:t>
            </a:r>
            <a:endParaRPr lang="en-US" sz="1100" dirty="0">
              <a:latin typeface="Arial Rounded MT Bold" panose="020F0704030504030204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Arial Rounded MT Bold" panose="020F0704030504030204" pitchFamily="34" charset="0"/>
                <a:ea typeface="Open Sans" pitchFamily="34" charset="-122"/>
                <a:cs typeface="Open Sans" pitchFamily="34" charset="-120"/>
              </a:rPr>
              <a:t>Designed ANN using TensorFlow/Keras</a:t>
            </a:r>
            <a:endParaRPr lang="en-US" sz="1100" dirty="0">
              <a:latin typeface="Arial Rounded MT Bold" panose="020F0704030504030204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Arial Rounded MT Bold" panose="020F0704030504030204" pitchFamily="34" charset="0"/>
                <a:ea typeface="Open Sans" pitchFamily="34" charset="-122"/>
                <a:cs typeface="Open Sans" pitchFamily="34" charset="-120"/>
              </a:rPr>
              <a:t>Trained ANN</a:t>
            </a:r>
            <a:endParaRPr lang="en-US" sz="1100" dirty="0">
              <a:latin typeface="Arial Rounded MT Bold" panose="020F0704030504030204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Arial Rounded MT Bold" panose="020F0704030504030204" pitchFamily="34" charset="0"/>
                <a:ea typeface="Open Sans" pitchFamily="34" charset="-122"/>
                <a:cs typeface="Open Sans" pitchFamily="34" charset="-120"/>
              </a:rPr>
              <a:t>Tuned epochs and batch size</a:t>
            </a:r>
            <a:endParaRPr lang="en-US" sz="1100" dirty="0">
              <a:latin typeface="Arial Rounded MT Bold" panose="020F0704030504030204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Arial Rounded MT Bold" panose="020F0704030504030204" pitchFamily="34" charset="0"/>
                <a:ea typeface="Open Sans" pitchFamily="34" charset="-122"/>
                <a:cs typeface="Open Sans" pitchFamily="34" charset="-120"/>
              </a:rPr>
              <a:t>Compared ANN with ML models</a:t>
            </a:r>
            <a:endParaRPr lang="en-US" sz="1100" dirty="0">
              <a:latin typeface="Arial Rounded MT Bold" panose="020F0704030504030204" pitchFamily="34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Arial Rounded MT Bold" panose="020F0704030504030204" pitchFamily="34" charset="0"/>
                <a:ea typeface="Open Sans" pitchFamily="34" charset="-122"/>
                <a:cs typeface="Open Sans" pitchFamily="34" charset="-120"/>
              </a:rPr>
              <a:t>Selected best-performing model</a:t>
            </a:r>
            <a:endParaRPr lang="en-US" sz="11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025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Artificial Neural Network Architecture</a:t>
            </a:r>
            <a:endParaRPr lang="en-US" sz="2550" dirty="0">
              <a:latin typeface="Aptos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78360"/>
            <a:ext cx="5187032" cy="1975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703" y="1144563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Layer Configuration</a:t>
            </a:r>
            <a:endParaRPr lang="en-US" sz="1250" dirty="0">
              <a:latin typeface="Aptos" panose="020B00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6703" y="1484188"/>
            <a:ext cx="2645866" cy="10161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08812" y="1629147"/>
            <a:ext cx="229879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Input Layer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208812" y="1953741"/>
            <a:ext cx="229879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190 features from feature engineering</a:t>
            </a:r>
            <a:endParaRPr lang="en-US" sz="1000" dirty="0">
              <a:latin typeface="Aptos" panose="020B00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6703" y="2620863"/>
            <a:ext cx="2645866" cy="10161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08812" y="2765822"/>
            <a:ext cx="229879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Hidden Layers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208812" y="3090416"/>
            <a:ext cx="229879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Multiple neurons with ReLU activation functions</a:t>
            </a:r>
            <a:endParaRPr lang="en-US" sz="1000" dirty="0">
              <a:latin typeface="Aptos" panose="020B00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6703" y="3757538"/>
            <a:ext cx="2645866" cy="81535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08812" y="3902497"/>
            <a:ext cx="229879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Output Layer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208812" y="4227091"/>
            <a:ext cx="229879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Single neuron for price prediction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960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Training &amp; Hyperparameter Tuning</a:t>
            </a: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82588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Training Configuration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546771"/>
            <a:ext cx="1887662" cy="1064270"/>
          </a:xfrm>
          <a:prstGeom prst="roundRect">
            <a:avLst>
              <a:gd name="adj" fmla="val 542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8175" y="1688827"/>
            <a:ext cx="160354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Optimizer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8175" y="2036341"/>
            <a:ext cx="1603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Adam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16758" y="1546771"/>
            <a:ext cx="1887736" cy="1064270"/>
          </a:xfrm>
          <a:prstGeom prst="roundRect">
            <a:avLst>
              <a:gd name="adj" fmla="val 542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8814" y="1688827"/>
            <a:ext cx="160362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Loss Function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58814" y="2036341"/>
            <a:ext cx="160362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Mean Squared Error (MSE)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6119" y="2744019"/>
            <a:ext cx="1887662" cy="847948"/>
          </a:xfrm>
          <a:prstGeom prst="roundRect">
            <a:avLst>
              <a:gd name="adj" fmla="val 680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175" y="2886075"/>
            <a:ext cx="160354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Batch Size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175" y="3233589"/>
            <a:ext cx="1603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32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16758" y="2744019"/>
            <a:ext cx="1887736" cy="847948"/>
          </a:xfrm>
          <a:prstGeom prst="roundRect">
            <a:avLst>
              <a:gd name="adj" fmla="val 680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8814" y="2886075"/>
            <a:ext cx="160362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Epochs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58814" y="3233589"/>
            <a:ext cx="160362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100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6119" y="3724945"/>
            <a:ext cx="3908375" cy="847948"/>
          </a:xfrm>
          <a:prstGeom prst="roundRect">
            <a:avLst>
              <a:gd name="adj" fmla="val 680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75" y="3867001"/>
            <a:ext cx="362426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Validation Split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8175" y="4214515"/>
            <a:ext cx="362426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20%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44269" y="1182588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Tuning Results</a:t>
            </a:r>
            <a:endParaRPr lang="en-US" sz="1350" dirty="0">
              <a:latin typeface="Aptos" panose="020B0004020202020204" pitchFamily="34" charset="0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4269" y="1546771"/>
            <a:ext cx="1887662" cy="87652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976813" y="1703115"/>
            <a:ext cx="14987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Epochs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976813" y="2050628"/>
            <a:ext cx="149877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50 → 100 (optimized)</a:t>
            </a:r>
            <a:endParaRPr lang="en-US" sz="1050" dirty="0">
              <a:latin typeface="Aptos" panose="020B0004020202020204" pitchFamily="34" charset="0"/>
            </a:endParaRPr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4908" y="1546771"/>
            <a:ext cx="1887736" cy="87652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97452" y="1703115"/>
            <a:ext cx="14988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Batch Size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997452" y="2050628"/>
            <a:ext cx="149884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16 → 32 (optimized)</a:t>
            </a:r>
            <a:endParaRPr lang="en-US" sz="1050" dirty="0">
              <a:latin typeface="Aptos" panose="020B0004020202020204" pitchFamily="34" charset="0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4269" y="2556272"/>
            <a:ext cx="1887662" cy="130738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976813" y="2712616"/>
            <a:ext cx="149877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Learning Rate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976813" y="3274665"/>
            <a:ext cx="149877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0.001 (adaptive)</a:t>
            </a:r>
            <a:endParaRPr lang="en-US" sz="1050" dirty="0">
              <a:latin typeface="Aptos" panose="020B0004020202020204" pitchFamily="34" charset="0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4908" y="2556272"/>
            <a:ext cx="1887736" cy="130738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97452" y="2712616"/>
            <a:ext cx="149884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Early Stopping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997452" y="3274665"/>
            <a:ext cx="149884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Enabled to prevent overfitting</a:t>
            </a:r>
            <a:endParaRPr lang="en-US" sz="10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Model Performance Comparison: ANN vs ML Models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5014987" cy="27865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521869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R² Score Results</a:t>
            </a:r>
            <a:endParaRPr lang="en-US" sz="650" dirty="0">
              <a:latin typeface="Arial Black" panose="020B0A04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3721150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0.81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4017020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ANN</a:t>
            </a:r>
            <a:endParaRPr lang="en-US" sz="65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6119" y="4148956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Best performing model</a:t>
            </a:r>
            <a:endParaRPr lang="en-US" sz="550" dirty="0">
              <a:latin typeface="Arial Black" panose="020B0A04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94101" y="3721150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0.77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94101" y="4017020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Random Forest</a:t>
            </a:r>
            <a:endParaRPr lang="en-US" sz="650" dirty="0">
              <a:latin typeface="Arial Black" panose="020B0A04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94101" y="4148956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Top ML baseline</a:t>
            </a:r>
            <a:endParaRPr lang="en-US" sz="550" dirty="0">
              <a:latin typeface="Arial Black" panose="020B0A04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6119" y="4340275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0.74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6119" y="4636145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Linear Regression</a:t>
            </a:r>
            <a:endParaRPr lang="en-US" sz="650" dirty="0">
              <a:latin typeface="Arial Black" panose="020B0A04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94101" y="4340275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0.61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94101" y="4636145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Decision Tree</a:t>
            </a:r>
            <a:endParaRPr lang="en-US" sz="650" dirty="0">
              <a:latin typeface="Arial Black" panose="020B0A040201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6120" y="4786685"/>
            <a:ext cx="6221204" cy="305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ANN achieved the highest R² score of 0.812, outperforming all traditional ML models.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The deep learning approach successfully captured complex non-linear patterns in the house price data.</a:t>
            </a:r>
            <a:endParaRPr lang="en-US" sz="8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457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Cabin Bold" panose="020B0604020202020204" charset="0"/>
                <a:ea typeface="Unbounded Bold" pitchFamily="34" charset="-122"/>
                <a:cs typeface="Unbounded Bold" pitchFamily="34" charset="-120"/>
              </a:rPr>
              <a:t>PR4 Methodology: End-to-End Deep Learning Pipeline</a:t>
            </a:r>
            <a:endParaRPr lang="en-US" sz="1650" dirty="0">
              <a:latin typeface="Cabin Bold" panose="020B0604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647" y="834628"/>
            <a:ext cx="2725638" cy="36599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550718"/>
            <a:ext cx="5683895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endParaRPr lang="en-US" sz="650" dirty="0">
              <a:latin typeface="Cabin Bold" panose="020B0604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32959" y="976833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932959" y="1110258"/>
            <a:ext cx="2719611" cy="9525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7" name="Text 4"/>
          <p:cNvSpPr/>
          <p:nvPr/>
        </p:nvSpPr>
        <p:spPr>
          <a:xfrm>
            <a:off x="5932959" y="1171352"/>
            <a:ext cx="271961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Cabin Bold" panose="020B0604020202020204" charset="0"/>
                <a:ea typeface="Unbounded Bold" pitchFamily="34" charset="-122"/>
                <a:cs typeface="Unbounded Bold" pitchFamily="34" charset="-120"/>
              </a:rPr>
              <a:t>Prepared Dataset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32959" y="1352773"/>
            <a:ext cx="271961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Open Sans" pitchFamily="34" charset="-122"/>
                <a:cs typeface="Open Sans" pitchFamily="34" charset="-120"/>
              </a:rPr>
              <a:t>Carried forward from PR3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32959" y="1573113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32959" y="1706538"/>
            <a:ext cx="2719611" cy="9525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1" name="Text 8"/>
          <p:cNvSpPr/>
          <p:nvPr/>
        </p:nvSpPr>
        <p:spPr>
          <a:xfrm>
            <a:off x="5932959" y="1767632"/>
            <a:ext cx="271961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Cabin Bold" panose="020B0604020202020204" charset="0"/>
                <a:ea typeface="Unbounded Bold" pitchFamily="34" charset="-122"/>
                <a:cs typeface="Unbounded Bold" pitchFamily="34" charset="-120"/>
              </a:rPr>
              <a:t>ANN Architecture Design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32959" y="1949053"/>
            <a:ext cx="271961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Open Sans" pitchFamily="34" charset="-122"/>
                <a:cs typeface="Open Sans" pitchFamily="34" charset="-120"/>
              </a:rPr>
              <a:t>Defined layers, neurons, and activations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32959" y="2169393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32959" y="2302818"/>
            <a:ext cx="2719611" cy="9525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5" name="Text 12"/>
          <p:cNvSpPr/>
          <p:nvPr/>
        </p:nvSpPr>
        <p:spPr>
          <a:xfrm>
            <a:off x="5932959" y="2363912"/>
            <a:ext cx="271961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Cabin Bold" panose="020B0604020202020204" charset="0"/>
                <a:ea typeface="Unbounded Bold" pitchFamily="34" charset="-122"/>
                <a:cs typeface="Unbounded Bold" pitchFamily="34" charset="-120"/>
              </a:rPr>
              <a:t>Model Training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32959" y="2545333"/>
            <a:ext cx="271961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Open Sans" pitchFamily="34" charset="-122"/>
                <a:cs typeface="Open Sans" pitchFamily="34" charset="-120"/>
              </a:rPr>
              <a:t>Trained on prepared dataset using TensorFlow/Keras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32959" y="2765673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932959" y="2899097"/>
            <a:ext cx="2719611" cy="9525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9" name="Text 16"/>
          <p:cNvSpPr/>
          <p:nvPr/>
        </p:nvSpPr>
        <p:spPr>
          <a:xfrm>
            <a:off x="5932959" y="2960191"/>
            <a:ext cx="271961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Cabin Bold" panose="020B0604020202020204" charset="0"/>
                <a:ea typeface="Unbounded Bold" pitchFamily="34" charset="-122"/>
                <a:cs typeface="Unbounded Bold" pitchFamily="34" charset="-120"/>
              </a:rPr>
              <a:t>Hyperparameter Tuning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932959" y="3141613"/>
            <a:ext cx="271961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Open Sans" pitchFamily="34" charset="-122"/>
                <a:cs typeface="Open Sans" pitchFamily="34" charset="-120"/>
              </a:rPr>
              <a:t>Optimized epochs, batch size, and learning rate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932959" y="3361953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32959" y="3495377"/>
            <a:ext cx="2719611" cy="9525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3" name="Text 20"/>
          <p:cNvSpPr/>
          <p:nvPr/>
        </p:nvSpPr>
        <p:spPr>
          <a:xfrm>
            <a:off x="5932959" y="3556471"/>
            <a:ext cx="271961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Cabin Bold" panose="020B0604020202020204" charset="0"/>
                <a:ea typeface="Unbounded Bold" pitchFamily="34" charset="-122"/>
                <a:cs typeface="Unbounded Bold" pitchFamily="34" charset="-120"/>
              </a:rPr>
              <a:t>Performance Comparison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932959" y="3737893"/>
            <a:ext cx="271961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Open Sans" pitchFamily="34" charset="-122"/>
                <a:cs typeface="Open Sans" pitchFamily="34" charset="-120"/>
              </a:rPr>
              <a:t>Benchmarked ANN against all ML models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932959" y="3958233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932959" y="4091657"/>
            <a:ext cx="2719611" cy="9525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7" name="Text 24"/>
          <p:cNvSpPr/>
          <p:nvPr/>
        </p:nvSpPr>
        <p:spPr>
          <a:xfrm>
            <a:off x="5932959" y="4152751"/>
            <a:ext cx="271961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Cabin Bold" panose="020B0604020202020204" charset="0"/>
                <a:ea typeface="Unbounded Bold" pitchFamily="34" charset="-122"/>
                <a:cs typeface="Unbounded Bold" pitchFamily="34" charset="-120"/>
              </a:rPr>
              <a:t>Best Model Selection</a:t>
            </a:r>
            <a:endParaRPr lang="en-US" sz="1100" dirty="0">
              <a:latin typeface="Cabin Bold" panose="020B060402020202020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932959" y="4334173"/>
            <a:ext cx="271961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Cabin Bold" panose="020B0604020202020204" charset="0"/>
                <a:ea typeface="Open Sans" pitchFamily="34" charset="-122"/>
                <a:cs typeface="Open Sans" pitchFamily="34" charset="-120"/>
              </a:rPr>
              <a:t>ANN selected as the final model</a:t>
            </a:r>
            <a:endParaRPr lang="en-US" sz="1100" dirty="0">
              <a:latin typeface="Cabin Bold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901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Progress Report 4 — Summary</a:t>
            </a:r>
            <a:endParaRPr lang="en-US" sz="235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042243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Completed Tasks</a:t>
            </a:r>
            <a:endParaRPr lang="en-US" sz="1150" dirty="0">
              <a:latin typeface="Aptos" panose="020B00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09" y="1356382"/>
            <a:ext cx="182687" cy="1826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2001" y="1350318"/>
            <a:ext cx="353139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✓ Prepared dataset for Deep Learning</a:t>
            </a:r>
            <a:endParaRPr lang="en-US" sz="950" dirty="0">
              <a:latin typeface="Aptos" panose="020B00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09" y="1937184"/>
            <a:ext cx="182687" cy="1826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001" y="1931119"/>
            <a:ext cx="353139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✓ Designed ANN using TensorFlow/Keras</a:t>
            </a:r>
            <a:endParaRPr lang="en-US" sz="950" dirty="0">
              <a:latin typeface="Aptos" panose="020B00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09" y="2517986"/>
            <a:ext cx="182687" cy="1826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2001" y="2511921"/>
            <a:ext cx="353139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✓ Trained ANN model</a:t>
            </a:r>
            <a:endParaRPr lang="en-US" sz="950" dirty="0">
              <a:latin typeface="Aptos" panose="020B00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09" y="3098788"/>
            <a:ext cx="182687" cy="1826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2001" y="3092723"/>
            <a:ext cx="353139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✓ Tuned epochs and batch size</a:t>
            </a:r>
            <a:endParaRPr lang="en-US" sz="950" dirty="0">
              <a:latin typeface="Aptos" panose="020B0004020202020204" pitchFamily="34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09" y="3679589"/>
            <a:ext cx="182687" cy="18268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2001" y="3673525"/>
            <a:ext cx="353139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✓ Compared ANN with ML models</a:t>
            </a:r>
            <a:endParaRPr lang="en-US" sz="950" dirty="0">
              <a:latin typeface="Aptos" panose="020B0004020202020204" pitchFamily="34" charset="0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09" y="4260391"/>
            <a:ext cx="182687" cy="18268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92001" y="4254326"/>
            <a:ext cx="353139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✓ Selected best-performing model </a:t>
            </a:r>
            <a:r>
              <a:rPr lang="en-US" sz="950" b="1" dirty="0">
                <a:solidFill>
                  <a:srgbClr val="333F70"/>
                </a:solidFill>
                <a:latin typeface="Aptos" panose="020B0004020202020204" pitchFamily="34" charset="0"/>
                <a:ea typeface="Open Sans Bold" pitchFamily="34" charset="-122"/>
                <a:cs typeface="Open Sans Bold" pitchFamily="34" charset="-120"/>
              </a:rPr>
              <a:t>(ANN R² = 0.812)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725367" y="1042243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Deliverables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725367" y="1350318"/>
            <a:ext cx="1911325" cy="1129085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4861471" y="1486421"/>
            <a:ext cx="163911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Trained ANN Model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861471" y="1971749"/>
            <a:ext cx="163911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best_ann_model.pkl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741319" y="1350318"/>
            <a:ext cx="1911325" cy="1129085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6877422" y="1486421"/>
            <a:ext cx="1639119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Performance Comparison Table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877422" y="2162101"/>
            <a:ext cx="163911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ANN vs ML models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4725367" y="2584028"/>
            <a:ext cx="3927277" cy="748382"/>
          </a:xfrm>
          <a:prstGeom prst="roundRect">
            <a:avLst>
              <a:gd name="adj" fmla="val 6837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861471" y="2720132"/>
            <a:ext cx="365507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Aptos" panose="020B0004020202020204" pitchFamily="34" charset="0"/>
                <a:ea typeface="Unbounded Bold" pitchFamily="34" charset="-122"/>
                <a:cs typeface="Unbounded Bold" pitchFamily="34" charset="-120"/>
              </a:rPr>
              <a:t>Model Evaluation Report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861471" y="3015109"/>
            <a:ext cx="365507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Detailed analysis of all models</a:t>
            </a:r>
            <a:endParaRPr lang="en-US" sz="9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144" y="2007394"/>
            <a:ext cx="1128713" cy="11287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45667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Aptos Display" panose="020B0004020202020204" pitchFamily="34" charset="0"/>
                <a:ea typeface="Unbounded Bold" pitchFamily="34" charset="-122"/>
                <a:cs typeface="Unbounded Bold" pitchFamily="34" charset="-120"/>
              </a:rPr>
              <a:t>Overall Progress: 55–60% Project Completed</a:t>
            </a:r>
            <a:endParaRPr lang="en-US" sz="2750" dirty="0">
              <a:latin typeface="Aptos Display" panose="020B000402020202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96119" y="2069083"/>
            <a:ext cx="4722763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Aptos Display" panose="020B0004020202020204" pitchFamily="34" charset="0"/>
                <a:ea typeface="Unbounded Bold" pitchFamily="34" charset="-122"/>
                <a:cs typeface="Unbounded Bold" pitchFamily="34" charset="-120"/>
              </a:rPr>
              <a:t>57%</a:t>
            </a:r>
            <a:endParaRPr lang="en-US" sz="3650" dirty="0">
              <a:latin typeface="Aptos Display" panose="020B00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96119" y="2714030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 Display" panose="020B0004020202020204" pitchFamily="34" charset="0"/>
                <a:ea typeface="Unbounded Bold" pitchFamily="34" charset="-122"/>
                <a:cs typeface="Unbounded Bold" pitchFamily="34" charset="-120"/>
              </a:rPr>
              <a:t>Overall Completion</a:t>
            </a:r>
            <a:endParaRPr lang="en-US" sz="1350" dirty="0">
              <a:latin typeface="Aptos Display" panose="020B00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96119" y="3020541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Aptos Display" panose="020B0004020202020204" pitchFamily="34" charset="0"/>
                <a:ea typeface="Open Sans" pitchFamily="34" charset="-122"/>
                <a:cs typeface="Open Sans" pitchFamily="34" charset="-120"/>
              </a:rPr>
              <a:t>57% of the overall project has been completed as of Progress Report 4.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96119" y="3406825"/>
            <a:ext cx="1479724" cy="1279996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2640" y="3553346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 Display" panose="020B0004020202020204" pitchFamily="34" charset="0"/>
                <a:ea typeface="Unbounded Bold" pitchFamily="34" charset="-122"/>
                <a:cs typeface="Unbounded Bold" pitchFamily="34" charset="-120"/>
              </a:rPr>
              <a:t>PR1–PR3</a:t>
            </a:r>
            <a:endParaRPr lang="en-US" sz="1350" dirty="0">
              <a:latin typeface="Aptos Display" panose="020B00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2640" y="3859857"/>
            <a:ext cx="1186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Aptos Display" panose="020B0004020202020204" pitchFamily="34" charset="0"/>
                <a:ea typeface="Open Sans" pitchFamily="34" charset="-122"/>
                <a:cs typeface="Open Sans" pitchFamily="34" charset="-120"/>
              </a:rPr>
              <a:t>Data collection, preprocessing &amp; ML models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117601" y="3406825"/>
            <a:ext cx="1479724" cy="1279996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64122" y="3553346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 Display" panose="020B0004020202020204" pitchFamily="34" charset="0"/>
                <a:ea typeface="Unbounded Bold" pitchFamily="34" charset="-122"/>
                <a:cs typeface="Unbounded Bold" pitchFamily="34" charset="-120"/>
              </a:rPr>
              <a:t>PR4</a:t>
            </a:r>
            <a:endParaRPr lang="en-US" sz="1350" dirty="0">
              <a:latin typeface="Aptos Display" panose="020B00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264122" y="3859857"/>
            <a:ext cx="1186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Aptos Display" panose="020B0004020202020204" pitchFamily="34" charset="0"/>
                <a:ea typeface="Open Sans" pitchFamily="34" charset="-122"/>
                <a:cs typeface="Open Sans" pitchFamily="34" charset="-120"/>
              </a:rPr>
              <a:t>Deep Learning — ANN model built &amp; evaluated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739083" y="3406825"/>
            <a:ext cx="1479724" cy="1279996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85605" y="3553346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Aptos Display" panose="020B0004020202020204" pitchFamily="34" charset="0"/>
                <a:ea typeface="Unbounded Bold" pitchFamily="34" charset="-122"/>
                <a:cs typeface="Unbounded Bold" pitchFamily="34" charset="-120"/>
              </a:rPr>
              <a:t>PR5+</a:t>
            </a:r>
            <a:endParaRPr lang="en-US" sz="1350" dirty="0">
              <a:latin typeface="Aptos Display" panose="020B00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885605" y="3859857"/>
            <a:ext cx="1186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Aptos Display" panose="020B0004020202020204" pitchFamily="34" charset="0"/>
                <a:ea typeface="Open Sans" pitchFamily="34" charset="-122"/>
                <a:cs typeface="Open Sans" pitchFamily="34" charset="-120"/>
              </a:rPr>
              <a:t>Flask web application &amp; deployment</a:t>
            </a:r>
            <a:endParaRPr lang="en-US" sz="11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6394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Next Progress Report (PR5): Flask Web Application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-54731" y="1037964"/>
            <a:ext cx="2038871" cy="93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600" dirty="0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294879"/>
            <a:ext cx="39516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Upcoming Work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1536502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6119" y="1695301"/>
            <a:ext cx="395161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1774775"/>
            <a:ext cx="39516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Develop Web Interface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6119" y="2007245"/>
            <a:ext cx="395161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Build HTML pages with CSS styling and user input form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6119" y="2296864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6119" y="2455664"/>
            <a:ext cx="395161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2535138"/>
            <a:ext cx="39516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Integrate Model with Flask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6119" y="2767608"/>
            <a:ext cx="395161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Load trained model and connect ML model with Flask backend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6119" y="3057227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6119" y="3216027"/>
            <a:ext cx="395161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3295501"/>
            <a:ext cx="39516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Prediction Page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6119" y="3527971"/>
            <a:ext cx="395161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Display house price predictions from user inputs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6119" y="3817590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6119" y="3976390"/>
            <a:ext cx="395161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4055864"/>
            <a:ext cx="39516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Local Testing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6119" y="4288334"/>
            <a:ext cx="395161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Verify full end-to-end functionality locally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01034" y="1294879"/>
            <a:ext cx="39516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Expected Deliverables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1034" y="1536502"/>
            <a:ext cx="3951610" cy="60483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874344" y="1652662"/>
            <a:ext cx="366213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Working Local Website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874344" y="1885131"/>
            <a:ext cx="366213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Functional web application for house price prediction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1034" y="2214563"/>
            <a:ext cx="3951610" cy="60483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74344" y="2330723"/>
            <a:ext cx="366213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Flask Backend Code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874344" y="2563192"/>
            <a:ext cx="366213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Python code integrating the trained model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1034" y="2892623"/>
            <a:ext cx="3951610" cy="60483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74344" y="3008784"/>
            <a:ext cx="366213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HTML/CSS Templates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4874344" y="3241253"/>
            <a:ext cx="366213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Frontend structure and styling</a:t>
            </a:r>
            <a:endParaRPr lang="en-US" sz="800" dirty="0">
              <a:latin typeface="Arial Black" panose="020B0A04020102020204" pitchFamily="34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4701034" y="3579837"/>
            <a:ext cx="3951610" cy="322659"/>
          </a:xfrm>
          <a:prstGeom prst="roundRect">
            <a:avLst>
              <a:gd name="adj" fmla="val 13264"/>
            </a:avLst>
          </a:prstGeom>
          <a:solidFill>
            <a:srgbClr val="B6FCB8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07" y="3727549"/>
            <a:ext cx="127322" cy="10187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32102" y="3671143"/>
            <a:ext cx="397586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 Black" panose="020B0A04020102020204" pitchFamily="34" charset="0"/>
                <a:ea typeface="Open Sans" pitchFamily="34" charset="-122"/>
                <a:cs typeface="Open Sans" pitchFamily="34" charset="-120"/>
              </a:rPr>
              <a:t>Expected Progress: </a:t>
            </a:r>
            <a:r>
              <a:rPr lang="en-US" sz="800" b="1" dirty="0">
                <a:solidFill>
                  <a:srgbClr val="000000"/>
                </a:solidFill>
                <a:latin typeface="Arial Black" panose="020B0A04020102020204" pitchFamily="34" charset="0"/>
                <a:ea typeface="Open Sans Bold" pitchFamily="34" charset="-122"/>
                <a:cs typeface="Open Sans Bold" pitchFamily="34" charset="-120"/>
              </a:rPr>
              <a:t>75–80% Completion</a:t>
            </a:r>
            <a:endParaRPr lang="en-US" sz="8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546</Words>
  <Application>Microsoft Office PowerPoint</Application>
  <PresentationFormat>On-screen Show (16:9)</PresentationFormat>
  <Paragraphs>146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Cabin</vt:lpstr>
      <vt:lpstr>Open Sans</vt:lpstr>
      <vt:lpstr>Aptos</vt:lpstr>
      <vt:lpstr>Unbounded</vt:lpstr>
      <vt:lpstr>Arial</vt:lpstr>
      <vt:lpstr>Arial Rounded MT Bold</vt:lpstr>
      <vt:lpstr>Cabin Bold</vt:lpstr>
      <vt:lpstr>Unbounded Bold</vt:lpstr>
      <vt:lpstr>Arial Black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 Patel</dc:creator>
  <cp:lastModifiedBy>Ravi Patel</cp:lastModifiedBy>
  <cp:revision>6</cp:revision>
  <dcterms:created xsi:type="dcterms:W3CDTF">2026-08-05T06:48:50Z</dcterms:created>
  <dcterms:modified xsi:type="dcterms:W3CDTF">2026-08-05T07:10:42Z</dcterms:modified>
</cp:coreProperties>
</file>