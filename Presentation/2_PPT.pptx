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Inter" panose="020B0604020202020204" charset="0"/>
      <p:bold r:id="rId11"/>
      <p:boldItalic r:id="rId12"/>
    </p:embeddedFont>
    <p:embeddedFont>
      <p:font typeface="Inter ExtraBold" panose="020B0604020202020204" charset="0"/>
      <p:bold r:id="rId13"/>
      <p:boldItalic r:id="rId14"/>
    </p:embeddedFont>
    <p:embeddedFont>
      <p:font typeface="Inter Medium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Patel" userId="d39d59c6c7833fa7" providerId="LiveId" clId="{673A51E0-A7DC-4BC0-A774-55952CCC8485}"/>
    <pc:docChg chg="undo custSel modSld">
      <pc:chgData name="Ravi Patel" userId="d39d59c6c7833fa7" providerId="LiveId" clId="{673A51E0-A7DC-4BC0-A774-55952CCC8485}" dt="2026-07-08T13:42:58.515" v="5" actId="14100"/>
      <pc:docMkLst>
        <pc:docMk/>
      </pc:docMkLst>
      <pc:sldChg chg="modSp mod">
        <pc:chgData name="Ravi Patel" userId="d39d59c6c7833fa7" providerId="LiveId" clId="{673A51E0-A7DC-4BC0-A774-55952CCC8485}" dt="2026-07-08T13:42:58.515" v="5" actId="14100"/>
        <pc:sldMkLst>
          <pc:docMk/>
          <pc:sldMk cId="0" sldId="263"/>
        </pc:sldMkLst>
        <pc:picChg chg="mod">
          <ac:chgData name="Ravi Patel" userId="d39d59c6c7833fa7" providerId="LiveId" clId="{673A51E0-A7DC-4BC0-A774-55952CCC8485}" dt="2026-07-08T13:42:58.515" v="5" actId="14100"/>
          <ac:picMkLst>
            <pc:docMk/>
            <pc:sldMk cId="0" sldId="263"/>
            <ac:picMk id="36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35f12e365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35f12e365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5f12e365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5f12e365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35f12e365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35f12e365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5f12e365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5f12e365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35f12e365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35f12e365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5f12e365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35f12e365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35f12e365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35f12e365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35f12e365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35f12e365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35f12e365_13_0)">
  <p:cSld name="Generated (g3f35f12e365_13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0" y="0"/>
              <a:ext cx="3200400" cy="51435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381000" y="381000"/>
              <a:ext cx="495300" cy="495300"/>
              <a:chOff x="0" y="0"/>
              <a:chExt cx="495300" cy="4953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3" name="Google Shape;63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" name="Google Shape;6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" name="Google Shape;66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Google Shape;67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" name="Google Shape;71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" name="Google Shape;78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" name="Google Shape;7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" name="Google Shape;80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" name="Google Shape;81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" name="Google Shape;82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4" name="Google Shape;84;p14"/>
            <p:cNvGrpSpPr/>
            <p:nvPr/>
          </p:nvGrpSpPr>
          <p:grpSpPr>
            <a:xfrm>
              <a:off x="381000" y="4191000"/>
              <a:ext cx="495300" cy="495300"/>
              <a:chOff x="0" y="0"/>
              <a:chExt cx="495300" cy="495300"/>
            </a:xfrm>
          </p:grpSpPr>
          <p:sp>
            <p:nvSpPr>
              <p:cNvPr id="85" name="Google Shape;85;p14"/>
              <p:cNvSpPr/>
              <p:nvPr/>
            </p:nvSpPr>
            <p:spPr>
              <a:xfrm>
                <a:off x="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43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2286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342900" y="0"/>
                <a:ext cx="38100" cy="38100"/>
              </a:xfrm>
              <a:prstGeom prst="ellipse">
                <a:avLst/>
              </a:prstGeom>
              <a:solidFill>
                <a:srgbClr val="E2E8F0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89" name="Google Shape;8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" name="Google Shape;92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" name="Google Shape;93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" name="Google Shape;9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1143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" name="Google Shape;95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" name="Google Shape;96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2286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" name="Google Shape;102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" name="Google Shape;103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" name="Google Shape;10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3429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43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" name="Google Shape;107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86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" name="Google Shape;108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429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9" name="Google Shape;109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57200" y="457200"/>
                <a:ext cx="38100" cy="38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0" name="Google Shape;110;p14"/>
            <p:cNvGrpSpPr/>
            <p:nvPr/>
          </p:nvGrpSpPr>
          <p:grpSpPr>
            <a:xfrm>
              <a:off x="1447800" y="2419350"/>
              <a:ext cx="304800" cy="304800"/>
              <a:chOff x="0" y="0"/>
              <a:chExt cx="304800" cy="3048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" name="Google Shape;114;p14"/>
          <p:cNvGrpSpPr/>
          <p:nvPr/>
        </p:nvGrpSpPr>
        <p:grpSpPr>
          <a:xfrm>
            <a:off x="3619500" y="228450"/>
            <a:ext cx="5238750" cy="4391025"/>
            <a:chOff x="3619500" y="228450"/>
            <a:chExt cx="5238750" cy="4391025"/>
          </a:xfrm>
        </p:grpSpPr>
        <p:sp>
          <p:nvSpPr>
            <p:cNvPr id="115" name="Google Shape;115;p14"/>
            <p:cNvSpPr txBox="1"/>
            <p:nvPr/>
          </p:nvSpPr>
          <p:spPr>
            <a:xfrm>
              <a:off x="3619500" y="228450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0" dirty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Indus Institute of Technology and Engineering</a:t>
              </a:r>
              <a:endParaRPr b="0" dirty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3714750" y="1441208"/>
              <a:ext cx="5143500" cy="6066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 dirty="0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AI/ML - Based House Price Prediction </a:t>
              </a:r>
              <a:endParaRPr sz="2100" b="1" dirty="0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17" name="Google Shape;117;p14"/>
            <p:cNvCxnSpPr/>
            <p:nvPr/>
          </p:nvCxnSpPr>
          <p:spPr>
            <a:xfrm>
              <a:off x="3619500" y="2333625"/>
              <a:ext cx="5143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8" name="Google Shape;118;p14"/>
            <p:cNvSpPr txBox="1"/>
            <p:nvPr/>
          </p:nvSpPr>
          <p:spPr>
            <a:xfrm>
              <a:off x="3619500" y="2619375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dirty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Prepared By</a:t>
              </a:r>
              <a:endParaRPr sz="1200" b="0" dirty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457200" lvl="0" indent="-317500" algn="l" rtl="0">
                <a:spcBef>
                  <a:spcPts val="1125"/>
                </a:spcBef>
                <a:spcAft>
                  <a:spcPts val="0"/>
                </a:spcAft>
                <a:buClr>
                  <a:srgbClr val="0055A4"/>
                </a:buClr>
                <a:buSzPts val="1400"/>
                <a:buChar char="●"/>
              </a:pPr>
              <a:r>
                <a:rPr lang="en" b="0" dirty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Ravi Patel</a:t>
              </a:r>
              <a:br>
                <a:rPr lang="en" dirty="0">
                  <a:solidFill>
                    <a:srgbClr val="0055A4"/>
                  </a:solidFill>
                </a:rPr>
              </a:br>
              <a:r>
                <a:rPr lang="en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IU2341050103</a:t>
              </a:r>
              <a:endParaRPr dirty="0">
                <a:solidFill>
                  <a:srgbClr val="0055A4"/>
                </a:solidFill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0055A4"/>
                </a:buClr>
                <a:buSzPts val="1400"/>
                <a:buChar char="●"/>
              </a:pPr>
              <a:r>
                <a:rPr lang="en" b="0" dirty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Kenil Patel</a:t>
              </a:r>
              <a:br>
                <a:rPr lang="en" dirty="0">
                  <a:solidFill>
                    <a:srgbClr val="0055A4"/>
                  </a:solidFill>
                </a:rPr>
              </a:br>
              <a:r>
                <a:rPr lang="en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IU2341050105</a:t>
              </a:r>
              <a:endParaRPr dirty="0">
                <a:solidFill>
                  <a:srgbClr val="0055A4"/>
                </a:solidFill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0055A4"/>
                </a:buClr>
                <a:buSzPts val="1400"/>
                <a:buChar char="●"/>
              </a:pPr>
              <a:r>
                <a:rPr lang="en" b="0" dirty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Vishnu Jikadara</a:t>
              </a:r>
              <a:br>
                <a:rPr lang="en" dirty="0">
                  <a:solidFill>
                    <a:srgbClr val="0055A4"/>
                  </a:solidFill>
                </a:rPr>
              </a:br>
              <a:r>
                <a:rPr lang="en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IU2341050114</a:t>
              </a:r>
              <a:endParaRPr dirty="0">
                <a:solidFill>
                  <a:srgbClr val="0055A4"/>
                </a:solidFill>
              </a:endParaRPr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6286500" y="2619375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dirty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Guided By</a:t>
              </a:r>
              <a:endParaRPr sz="1200" b="0" dirty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b="0" dirty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Dhwani Hakani Ma’am</a:t>
              </a:r>
              <a:endParaRPr b="0" dirty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2625"/>
                </a:spcBef>
                <a:spcAft>
                  <a:spcPts val="0"/>
                </a:spcAft>
                <a:buNone/>
              </a:pPr>
              <a:r>
                <a:rPr lang="en" sz="1200" b="0" dirty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Submission Date</a:t>
              </a:r>
              <a:endParaRPr sz="1200" b="0" dirty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b="0" dirty="0">
                  <a:solidFill>
                    <a:srgbClr val="1A202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11-July-2026</a:t>
              </a:r>
              <a:endParaRPr b="0" dirty="0">
                <a:solidFill>
                  <a:srgbClr val="1A202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AB727F0-91DD-DA7E-5B2A-E360FFD41DA2}"/>
              </a:ext>
            </a:extLst>
          </p:cNvPr>
          <p:cNvSpPr txBox="1"/>
          <p:nvPr/>
        </p:nvSpPr>
        <p:spPr>
          <a:xfrm>
            <a:off x="4180081" y="687973"/>
            <a:ext cx="4212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rgbClr val="33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Subject:-</a:t>
            </a:r>
            <a:r>
              <a:rPr lang="en-IN" sz="1600" b="1" dirty="0">
                <a:solidFill>
                  <a:srgbClr val="33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600" b="1" u="sng" dirty="0">
                <a:solidFill>
                  <a:srgbClr val="33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Group Project</a:t>
            </a:r>
            <a:r>
              <a:rPr lang="en-IN" sz="1600" b="1" dirty="0">
                <a:solidFill>
                  <a:srgbClr val="33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IN" sz="1600" dirty="0">
                <a:solidFill>
                  <a:srgbClr val="33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CE0727)</a:t>
            </a:r>
            <a:endParaRPr lang="en-IN" sz="1600" b="1" u="sng" dirty="0">
              <a:solidFill>
                <a:srgbClr val="33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>
            <a:off x="0" y="0"/>
            <a:ext cx="9144000" cy="76350"/>
            <a:chOff x="0" y="0"/>
            <a:chExt cx="9144000" cy="76350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0"/>
              <a:ext cx="9144000" cy="5730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0" y="57150"/>
              <a:ext cx="1143000" cy="19200"/>
            </a:xfrm>
            <a:prstGeom prst="rect">
              <a:avLst/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381000" y="190500"/>
            <a:ext cx="182880" cy="182880"/>
            <a:chOff x="0" y="0"/>
            <a:chExt cx="304800" cy="30480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304800" cy="304800"/>
            </a:xfrm>
            <a:prstGeom prst="roundRect">
              <a:avLst>
                <a:gd name="adj" fmla="val 12500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95250" y="95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133350" y="152400"/>
              <a:ext cx="38100" cy="38100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5"/>
          <p:cNvSpPr txBox="1"/>
          <p:nvPr/>
        </p:nvSpPr>
        <p:spPr>
          <a:xfrm>
            <a:off x="3100039" y="190500"/>
            <a:ext cx="5662961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dirty="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rPr>
              <a:t>AI/ML - Based House Price Prediction &amp; Property Recommendation System</a:t>
            </a:r>
            <a:endParaRPr sz="1200" b="0" dirty="0">
              <a:solidFill>
                <a:srgbClr val="4A556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381000" y="5238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Machine learning standardizes complex house price estimations to replace inconsistent manual methods.</a:t>
            </a:r>
            <a:endParaRPr sz="1800" b="1">
              <a:solidFill>
                <a:srgbClr val="00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3" name="Google Shape;133;p15"/>
          <p:cNvGrpSpPr/>
          <p:nvPr/>
        </p:nvGrpSpPr>
        <p:grpSpPr>
          <a:xfrm>
            <a:off x="381000" y="1381125"/>
            <a:ext cx="4000575" cy="2190900"/>
            <a:chOff x="381000" y="1381125"/>
            <a:chExt cx="4000575" cy="2190900"/>
          </a:xfrm>
        </p:grpSpPr>
        <p:sp>
          <p:nvSpPr>
            <p:cNvPr id="134" name="Google Shape;134;p15"/>
            <p:cNvSpPr txBox="1"/>
            <p:nvPr/>
          </p:nvSpPr>
          <p:spPr>
            <a:xfrm>
              <a:off x="381000" y="1381125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 dirty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CHALLENGES IN CURRENT METHODS</a:t>
              </a:r>
              <a:endParaRPr sz="1050" b="0" dirty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81000" y="1762125"/>
              <a:ext cx="1714500" cy="1714500"/>
            </a:xfrm>
            <a:prstGeom prst="roundRect">
              <a:avLst>
                <a:gd name="adj" fmla="val 2222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" name="Google Shape;13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0525" y="1771650"/>
              <a:ext cx="1695600" cy="16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15"/>
            <p:cNvSpPr/>
            <p:nvPr/>
          </p:nvSpPr>
          <p:spPr>
            <a:xfrm>
              <a:off x="2286000" y="186690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2428875" y="1809750"/>
              <a:ext cx="1952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dirty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Highly Variable Factors</a:t>
              </a:r>
              <a:endParaRPr sz="900" b="0" dirty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 dirty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Real estate pricing depends on highly variable factors, including specific location, total square footage, BHK configuration, and available amenities.</a:t>
              </a:r>
              <a:endParaRPr sz="825" b="0" dirty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2286000" y="2771775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2428875" y="2714625"/>
              <a:ext cx="1952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Subjective Expert Reliance</a:t>
              </a:r>
              <a:endParaRPr sz="900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Manual price estimation relies heavily on subjective expert knowledge, making it highly inconsistent and time-consuming for average buyers and sellers.</a:t>
              </a:r>
              <a:endParaRPr sz="8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5"/>
          <p:cNvGrpSpPr/>
          <p:nvPr/>
        </p:nvGrpSpPr>
        <p:grpSpPr>
          <a:xfrm>
            <a:off x="4762500" y="1428750"/>
            <a:ext cx="4000500" cy="2286000"/>
            <a:chOff x="4762500" y="1428750"/>
            <a:chExt cx="4000500" cy="2286000"/>
          </a:xfrm>
        </p:grpSpPr>
        <p:sp>
          <p:nvSpPr>
            <p:cNvPr id="142" name="Google Shape;142;p15"/>
            <p:cNvSpPr/>
            <p:nvPr/>
          </p:nvSpPr>
          <p:spPr>
            <a:xfrm>
              <a:off x="4762500" y="1428750"/>
              <a:ext cx="4000500" cy="2286000"/>
            </a:xfrm>
            <a:prstGeom prst="roundRect">
              <a:avLst>
                <a:gd name="adj" fmla="val 2500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4762500" y="1428750"/>
              <a:ext cx="57300" cy="2286000"/>
            </a:xfrm>
            <a:prstGeom prst="roundRect">
              <a:avLst>
                <a:gd name="adj" fmla="val 50000"/>
              </a:avLst>
            </a:prstGeom>
            <a:solidFill>
              <a:srgbClr val="4CA1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5000625" y="1619250"/>
              <a:ext cx="3524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PROPOSED ML SOLUTION</a:t>
              </a:r>
              <a:endParaRPr sz="82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Our system leverages Machine Learning algorithms to objectively analyze property features and predict fair market values.</a:t>
              </a:r>
              <a:endParaRPr sz="9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FUTURE SCOPE</a:t>
              </a:r>
              <a:endParaRPr sz="82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The architecture will expand beyond simple prediction to offer intelligent, personalized property recommendations based on user preferences.</a:t>
              </a:r>
              <a:endParaRPr sz="90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5" name="Google Shape;145;p15"/>
          <p:cNvGrpSpPr/>
          <p:nvPr/>
        </p:nvGrpSpPr>
        <p:grpSpPr>
          <a:xfrm>
            <a:off x="381000" y="4000500"/>
            <a:ext cx="8382000" cy="666900"/>
            <a:chOff x="381000" y="4000500"/>
            <a:chExt cx="8382000" cy="666900"/>
          </a:xfrm>
        </p:grpSpPr>
        <p:sp>
          <p:nvSpPr>
            <p:cNvPr id="146" name="Google Shape;146;p15"/>
            <p:cNvSpPr/>
            <p:nvPr/>
          </p:nvSpPr>
          <p:spPr>
            <a:xfrm>
              <a:off x="381000" y="4000500"/>
              <a:ext cx="8382000" cy="666900"/>
            </a:xfrm>
            <a:prstGeom prst="roundRect">
              <a:avLst>
                <a:gd name="adj" fmla="val 11428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571500" y="4114800"/>
              <a:ext cx="8001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Transitioning from subjective manual methods to objective Machine Learning models standardizes pricing, ensuring consistency and accuracy across all transaction types.</a:t>
              </a:r>
              <a:endParaRPr sz="975" b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3" name="Google Shape;153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" name="Google Shape;154;p16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155" name="Google Shape;155;p16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7" name="Google Shape;157;p16"/>
            <p:cNvSpPr txBox="1"/>
            <p:nvPr/>
          </p:nvSpPr>
          <p:spPr>
            <a:xfrm>
              <a:off x="3025698" y="190499"/>
              <a:ext cx="5737302" cy="255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r"/>
              <a:r>
                <a:rPr lang="en-US" sz="120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AI/ML - Based House Price Prediction &amp; Property Recommendation System</a:t>
              </a:r>
            </a:p>
          </p:txBody>
        </p:sp>
        <p:grpSp>
          <p:nvGrpSpPr>
            <p:cNvPr id="158" name="Google Shape;158;p16"/>
            <p:cNvGrpSpPr/>
            <p:nvPr/>
          </p:nvGrpSpPr>
          <p:grpSpPr>
            <a:xfrm>
              <a:off x="381000" y="190500"/>
              <a:ext cx="182880" cy="182880"/>
              <a:chOff x="0" y="0"/>
              <a:chExt cx="304800" cy="304800"/>
            </a:xfrm>
          </p:grpSpPr>
          <p:sp>
            <p:nvSpPr>
              <p:cNvPr id="159" name="Google Shape;159;p16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" name="Google Shape;162;p16"/>
          <p:cNvGrpSpPr/>
          <p:nvPr/>
        </p:nvGrpSpPr>
        <p:grpSpPr>
          <a:xfrm>
            <a:off x="381000" y="666750"/>
            <a:ext cx="4572000" cy="3857775"/>
            <a:chOff x="381000" y="666750"/>
            <a:chExt cx="4572000" cy="3857775"/>
          </a:xfrm>
        </p:grpSpPr>
        <p:sp>
          <p:nvSpPr>
            <p:cNvPr id="163" name="Google Shape;163;p16"/>
            <p:cNvSpPr txBox="1"/>
            <p:nvPr/>
          </p:nvSpPr>
          <p:spPr>
            <a:xfrm>
              <a:off x="381000" y="666750"/>
              <a:ext cx="45720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The Bengaluru House Price Dataset Provides Key</a:t>
              </a:r>
              <a:endParaRPr sz="15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Structural &amp; Locational Features for Modeling</a:t>
              </a:r>
              <a:endParaRPr sz="15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381000" y="1476375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 project utilizes the comprehensive Bengaluru House Price Dataset for training and evaluation.</a:t>
              </a:r>
              <a:endParaRPr sz="10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6"/>
            <p:cNvSpPr txBox="1"/>
            <p:nvPr/>
          </p:nvSpPr>
          <p:spPr>
            <a:xfrm>
              <a:off x="381000" y="1952625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Independent Features Analyzed</a:t>
              </a:r>
              <a:endParaRPr sz="750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Location:</a:t>
              </a:r>
              <a:r>
                <a:rPr lang="en"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The specific neighborhood or area within Bengaluru.</a:t>
              </a:r>
              <a:endParaRPr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142875" marR="0" lvl="0" indent="-142875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Sqft:</a:t>
              </a:r>
              <a:r>
                <a:rPr lang="en"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Total square footage of the property.</a:t>
              </a:r>
              <a:endParaRPr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142875" marR="0" lvl="0" indent="-142875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BHK:</a:t>
              </a:r>
              <a:r>
                <a:rPr lang="en"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Number of bedrooms, hall, and kitchen configurations.</a:t>
              </a:r>
              <a:endParaRPr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142875" marR="0" lvl="0" indent="-142875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Bath:</a:t>
              </a:r>
              <a:r>
                <a:rPr lang="en"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Number of bathrooms.</a:t>
              </a:r>
              <a:endParaRPr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142875" marR="0" lvl="0" indent="-142875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050" b="1">
                  <a:solidFill>
                    <a:srgbClr val="0055A4"/>
                  </a:solidFill>
                  <a:latin typeface="Inter"/>
                  <a:ea typeface="Inter"/>
                  <a:cs typeface="Inter"/>
                  <a:sym typeface="Inter"/>
                </a:rPr>
                <a:t>■</a:t>
              </a: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Balcony:</a:t>
              </a:r>
              <a:r>
                <a:rPr lang="en"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 Number of attached balconies.</a:t>
              </a:r>
              <a:endParaRPr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6" name="Google Shape;166;p16"/>
            <p:cNvGrpSpPr/>
            <p:nvPr/>
          </p:nvGrpSpPr>
          <p:grpSpPr>
            <a:xfrm>
              <a:off x="381000" y="3476625"/>
              <a:ext cx="4572000" cy="1047900"/>
              <a:chOff x="0" y="0"/>
              <a:chExt cx="4572000" cy="1047900"/>
            </a:xfrm>
          </p:grpSpPr>
          <p:sp>
            <p:nvSpPr>
              <p:cNvPr id="167" name="Google Shape;167;p16"/>
              <p:cNvSpPr/>
              <p:nvPr/>
            </p:nvSpPr>
            <p:spPr>
              <a:xfrm>
                <a:off x="0" y="0"/>
                <a:ext cx="4572000" cy="1047900"/>
              </a:xfrm>
              <a:prstGeom prst="roundRect">
                <a:avLst>
                  <a:gd name="adj" fmla="val 3636"/>
                </a:avLst>
              </a:prstGeom>
              <a:solidFill>
                <a:srgbClr val="F4F7F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0" y="0"/>
                <a:ext cx="38100" cy="1047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4364"/>
                    </a:moveTo>
                    <a:lnTo>
                      <a:pt x="0" y="115636"/>
                    </a:lnTo>
                    <a:cubicBezTo>
                      <a:pt x="-3" y="116793"/>
                      <a:pt x="12639" y="117903"/>
                      <a:pt x="35144" y="118722"/>
                    </a:cubicBezTo>
                    <a:cubicBezTo>
                      <a:pt x="57648" y="119540"/>
                      <a:pt x="88172" y="120000"/>
                      <a:pt x="120000" y="120000"/>
                    </a:cubicBezTo>
                    <a:lnTo>
                      <a:pt x="120000" y="0"/>
                    </a:lnTo>
                    <a:cubicBezTo>
                      <a:pt x="88174" y="0"/>
                      <a:pt x="57652" y="460"/>
                      <a:pt x="35147" y="1278"/>
                    </a:cubicBezTo>
                    <a:cubicBezTo>
                      <a:pt x="12643" y="2096"/>
                      <a:pt x="0" y="3206"/>
                      <a:pt x="0" y="4364"/>
                    </a:cubicBezTo>
                    <a:close/>
                  </a:path>
                </a:pathLst>
              </a:custGeom>
              <a:solidFill>
                <a:srgbClr val="4CA1A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6"/>
              <p:cNvSpPr txBox="1"/>
              <p:nvPr/>
            </p:nvSpPr>
            <p:spPr>
              <a:xfrm>
                <a:off x="228600" y="142875"/>
                <a:ext cx="4114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033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Target Variable</a:t>
                </a:r>
                <a:endParaRPr sz="750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1050" b="1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House Price:</a:t>
                </a:r>
                <a:r>
                  <a:rPr lang="en" sz="1050" b="0">
                    <a:solidFill>
                      <a:srgbClr val="1A202C"/>
                    </a:solidFill>
                    <a:latin typeface="Inter"/>
                    <a:ea typeface="Inter"/>
                    <a:cs typeface="Inter"/>
                    <a:sym typeface="Inter"/>
                  </a:rPr>
                  <a:t> The final continuous variable our machine learning models will be trained to predict. All columns were rigorously studied to determine exact meaning and data types.</a:t>
                </a:r>
                <a:endParaRPr sz="1050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0" name="Google Shape;170;p16"/>
          <p:cNvGrpSpPr/>
          <p:nvPr/>
        </p:nvGrpSpPr>
        <p:grpSpPr>
          <a:xfrm>
            <a:off x="5334000" y="762000"/>
            <a:ext cx="3429000" cy="3429000"/>
            <a:chOff x="0" y="0"/>
            <a:chExt cx="3429000" cy="3429000"/>
          </a:xfrm>
        </p:grpSpPr>
        <p:pic>
          <p:nvPicPr>
            <p:cNvPr id="171" name="Google Shape;171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429000" cy="342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6"/>
            <p:cNvSpPr/>
            <p:nvPr/>
          </p:nvSpPr>
          <p:spPr>
            <a:xfrm>
              <a:off x="0" y="0"/>
              <a:ext cx="3429000" cy="3429000"/>
            </a:xfrm>
            <a:prstGeom prst="roundRect">
              <a:avLst>
                <a:gd name="adj" fmla="val 1111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8" name="Google Shape;178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17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" name="Google Shape;182;p17"/>
            <p:cNvSpPr txBox="1"/>
            <p:nvPr/>
          </p:nvSpPr>
          <p:spPr>
            <a:xfrm>
              <a:off x="3159512" y="190500"/>
              <a:ext cx="5603488" cy="226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r"/>
              <a:r>
                <a:rPr lang="en-US" sz="120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AI/ML - Based House Price Prediction &amp; Property Recommendation System</a:t>
              </a:r>
            </a:p>
          </p:txBody>
        </p:sp>
        <p:grpSp>
          <p:nvGrpSpPr>
            <p:cNvPr id="183" name="Google Shape;183;p17"/>
            <p:cNvGrpSpPr/>
            <p:nvPr/>
          </p:nvGrpSpPr>
          <p:grpSpPr>
            <a:xfrm>
              <a:off x="381000" y="190500"/>
              <a:ext cx="182880" cy="182880"/>
              <a:chOff x="0" y="0"/>
              <a:chExt cx="304800" cy="3048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7" name="Google Shape;187;p17"/>
          <p:cNvSpPr txBox="1"/>
          <p:nvPr/>
        </p:nvSpPr>
        <p:spPr>
          <a:xfrm>
            <a:off x="381000" y="619125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Rigorous data cleaning ensures a standardized and reliable dataset for accurate analysis.</a:t>
            </a:r>
            <a:endParaRPr sz="1800" b="1">
              <a:solidFill>
                <a:srgbClr val="00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8" name="Google Shape;188;p17"/>
          <p:cNvGrpSpPr/>
          <p:nvPr/>
        </p:nvGrpSpPr>
        <p:grpSpPr>
          <a:xfrm>
            <a:off x="381000" y="1428750"/>
            <a:ext cx="1047900" cy="2000100"/>
            <a:chOff x="381000" y="1428750"/>
            <a:chExt cx="1047900" cy="2000100"/>
          </a:xfrm>
        </p:grpSpPr>
        <p:sp>
          <p:nvSpPr>
            <p:cNvPr id="189" name="Google Shape;189;p17"/>
            <p:cNvSpPr/>
            <p:nvPr/>
          </p:nvSpPr>
          <p:spPr>
            <a:xfrm>
              <a:off x="381000" y="1428750"/>
              <a:ext cx="1047900" cy="2000100"/>
            </a:xfrm>
            <a:prstGeom prst="roundRect">
              <a:avLst>
                <a:gd name="adj" fmla="val 5454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381000" y="1428750"/>
              <a:ext cx="1047900" cy="38100"/>
            </a:xfrm>
            <a:prstGeom prst="roundRect">
              <a:avLst>
                <a:gd name="adj" fmla="val 500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457200" y="1543050"/>
              <a:ext cx="8955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5A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sz="1200" b="0">
                <a:solidFill>
                  <a:srgbClr val="0055A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Removed Duplicates</a:t>
              </a:r>
              <a:endParaRPr sz="825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Eliminated redundant rows to prevent model bias.</a:t>
              </a:r>
              <a:endParaRPr sz="7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2" name="Google Shape;192;p17"/>
          <p:cNvGrpSpPr/>
          <p:nvPr/>
        </p:nvGrpSpPr>
        <p:grpSpPr>
          <a:xfrm>
            <a:off x="1571625" y="1428750"/>
            <a:ext cx="1047900" cy="2000100"/>
            <a:chOff x="1571625" y="1428750"/>
            <a:chExt cx="1047900" cy="2000100"/>
          </a:xfrm>
        </p:grpSpPr>
        <p:sp>
          <p:nvSpPr>
            <p:cNvPr id="193" name="Google Shape;193;p17"/>
            <p:cNvSpPr/>
            <p:nvPr/>
          </p:nvSpPr>
          <p:spPr>
            <a:xfrm>
              <a:off x="1571625" y="1428750"/>
              <a:ext cx="1047900" cy="2000100"/>
            </a:xfrm>
            <a:prstGeom prst="roundRect">
              <a:avLst>
                <a:gd name="adj" fmla="val 5454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571625" y="1428750"/>
              <a:ext cx="1047900" cy="38100"/>
            </a:xfrm>
            <a:prstGeom prst="roundRect">
              <a:avLst>
                <a:gd name="adj" fmla="val 500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1647825" y="1543050"/>
              <a:ext cx="8955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5A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sz="1200" b="0">
                <a:solidFill>
                  <a:srgbClr val="0055A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Handled Missing Values</a:t>
              </a:r>
              <a:endParaRPr sz="825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Imputed or dropped null entries to maintain data integrity.</a:t>
              </a:r>
              <a:endParaRPr sz="7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7"/>
          <p:cNvGrpSpPr/>
          <p:nvPr/>
        </p:nvGrpSpPr>
        <p:grpSpPr>
          <a:xfrm>
            <a:off x="2762250" y="1428750"/>
            <a:ext cx="1047900" cy="2000100"/>
            <a:chOff x="2762250" y="1428750"/>
            <a:chExt cx="1047900" cy="2000100"/>
          </a:xfrm>
        </p:grpSpPr>
        <p:sp>
          <p:nvSpPr>
            <p:cNvPr id="197" name="Google Shape;197;p17"/>
            <p:cNvSpPr/>
            <p:nvPr/>
          </p:nvSpPr>
          <p:spPr>
            <a:xfrm>
              <a:off x="2762250" y="1428750"/>
              <a:ext cx="1047900" cy="2000100"/>
            </a:xfrm>
            <a:prstGeom prst="roundRect">
              <a:avLst>
                <a:gd name="adj" fmla="val 5454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762250" y="1428750"/>
              <a:ext cx="1047900" cy="38100"/>
            </a:xfrm>
            <a:prstGeom prst="roundRect">
              <a:avLst>
                <a:gd name="adj" fmla="val 500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 txBox="1"/>
            <p:nvPr/>
          </p:nvSpPr>
          <p:spPr>
            <a:xfrm>
              <a:off x="2838450" y="1543050"/>
              <a:ext cx="8955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5A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sz="1200" b="0">
                <a:solidFill>
                  <a:srgbClr val="0055A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Standardized Measurements</a:t>
              </a:r>
              <a:endParaRPr sz="825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Resolved inconsistencies in the 'total_sqft' column, converting ranges and mixed formats into uniform numeric values.</a:t>
              </a:r>
              <a:endParaRPr sz="7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17"/>
          <p:cNvGrpSpPr/>
          <p:nvPr/>
        </p:nvGrpSpPr>
        <p:grpSpPr>
          <a:xfrm>
            <a:off x="3952875" y="1428750"/>
            <a:ext cx="1047900" cy="2000100"/>
            <a:chOff x="3952875" y="1428750"/>
            <a:chExt cx="1047900" cy="2000100"/>
          </a:xfrm>
        </p:grpSpPr>
        <p:sp>
          <p:nvSpPr>
            <p:cNvPr id="201" name="Google Shape;201;p17"/>
            <p:cNvSpPr/>
            <p:nvPr/>
          </p:nvSpPr>
          <p:spPr>
            <a:xfrm>
              <a:off x="3952875" y="1428750"/>
              <a:ext cx="1047900" cy="2000100"/>
            </a:xfrm>
            <a:prstGeom prst="roundRect">
              <a:avLst>
                <a:gd name="adj" fmla="val 5454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3952875" y="1428750"/>
              <a:ext cx="1047900" cy="38100"/>
            </a:xfrm>
            <a:prstGeom prst="roundRect">
              <a:avLst>
                <a:gd name="adj" fmla="val 500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4029075" y="1543050"/>
              <a:ext cx="895500" cy="177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5A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sz="1200" b="0">
                <a:solidFill>
                  <a:srgbClr val="0055A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Type Conversion</a:t>
              </a:r>
              <a:endParaRPr sz="825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Converted categorical and string variables into appropriate numeric data types for algorithmic processing.</a:t>
              </a:r>
              <a:endParaRPr sz="7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4" name="Google Shape;204;p17"/>
          <p:cNvGrpSpPr/>
          <p:nvPr/>
        </p:nvGrpSpPr>
        <p:grpSpPr>
          <a:xfrm>
            <a:off x="5143500" y="1428750"/>
            <a:ext cx="3619500" cy="2036100"/>
            <a:chOff x="5143500" y="1428750"/>
            <a:chExt cx="3619500" cy="2036100"/>
          </a:xfrm>
        </p:grpSpPr>
        <p:sp>
          <p:nvSpPr>
            <p:cNvPr id="205" name="Google Shape;205;p17"/>
            <p:cNvSpPr/>
            <p:nvPr/>
          </p:nvSpPr>
          <p:spPr>
            <a:xfrm>
              <a:off x="5143500" y="1428750"/>
              <a:ext cx="3619500" cy="2036100"/>
            </a:xfrm>
            <a:prstGeom prst="roundRect">
              <a:avLst>
                <a:gd name="adj" fmla="val 1871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6" name="Google Shape;206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43500" y="1428750"/>
              <a:ext cx="3619500" cy="2036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17"/>
          <p:cNvGrpSpPr/>
          <p:nvPr/>
        </p:nvGrpSpPr>
        <p:grpSpPr>
          <a:xfrm>
            <a:off x="381000" y="3667125"/>
            <a:ext cx="8382000" cy="762000"/>
            <a:chOff x="381000" y="3667125"/>
            <a:chExt cx="8382000" cy="762000"/>
          </a:xfrm>
        </p:grpSpPr>
        <p:sp>
          <p:nvSpPr>
            <p:cNvPr id="208" name="Google Shape;208;p17"/>
            <p:cNvSpPr/>
            <p:nvPr/>
          </p:nvSpPr>
          <p:spPr>
            <a:xfrm>
              <a:off x="381000" y="3667125"/>
              <a:ext cx="8382000" cy="762000"/>
            </a:xfrm>
            <a:prstGeom prst="roundRect">
              <a:avLst>
                <a:gd name="adj" fmla="val 10000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571500" y="3667125"/>
              <a:ext cx="114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4CA1AF"/>
                  </a:solidFill>
                  <a:latin typeface="Inter"/>
                  <a:ea typeface="Inter"/>
                  <a:cs typeface="Inter"/>
                  <a:sym typeface="Inter"/>
                </a:rPr>
                <a:t>OUTCOME</a:t>
              </a:r>
              <a:endParaRPr/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1809750" y="3667125"/>
              <a:ext cx="6762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3" b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result is a highly structured, clean dataset fully optimized for the exploratory data analysis and model training phases.</a:t>
              </a:r>
              <a:endParaRPr sz="1013" b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6" name="Google Shape;216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" name="Google Shape;217;p18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" name="Google Shape;220;p18"/>
            <p:cNvSpPr txBox="1"/>
            <p:nvPr/>
          </p:nvSpPr>
          <p:spPr>
            <a:xfrm>
              <a:off x="3010829" y="190500"/>
              <a:ext cx="5752171" cy="228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r"/>
              <a:r>
                <a:rPr lang="en-US" sz="120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AI/ML - Based House Price Prediction &amp; Property Recommendation System</a:t>
              </a:r>
            </a:p>
          </p:txBody>
        </p:sp>
        <p:grpSp>
          <p:nvGrpSpPr>
            <p:cNvPr id="221" name="Google Shape;221;p18"/>
            <p:cNvGrpSpPr/>
            <p:nvPr/>
          </p:nvGrpSpPr>
          <p:grpSpPr>
            <a:xfrm>
              <a:off x="381000" y="190500"/>
              <a:ext cx="182880" cy="182880"/>
              <a:chOff x="0" y="0"/>
              <a:chExt cx="304800" cy="304800"/>
            </a:xfrm>
          </p:grpSpPr>
          <p:sp>
            <p:nvSpPr>
              <p:cNvPr id="222" name="Google Shape;222;p18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5" name="Google Shape;225;p18"/>
          <p:cNvGrpSpPr/>
          <p:nvPr/>
        </p:nvGrpSpPr>
        <p:grpSpPr>
          <a:xfrm>
            <a:off x="381000" y="666750"/>
            <a:ext cx="4000500" cy="3590850"/>
            <a:chOff x="381000" y="666750"/>
            <a:chExt cx="4000500" cy="3590850"/>
          </a:xfrm>
        </p:grpSpPr>
        <p:sp>
          <p:nvSpPr>
            <p:cNvPr id="226" name="Google Shape;226;p18"/>
            <p:cNvSpPr txBox="1"/>
            <p:nvPr/>
          </p:nvSpPr>
          <p:spPr>
            <a:xfrm>
              <a:off x="381000" y="666750"/>
              <a:ext cx="400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Exploratory Data Analysis reveals critical price distributions and feature relationships using visual libraries.</a:t>
              </a:r>
              <a:endParaRPr sz="165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81000" y="180975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533400" y="1733550"/>
              <a:ext cx="3467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Price Distribution</a:t>
              </a:r>
              <a:endParaRPr sz="97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Evaluated the spread and skewness of house prices across the dataset.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381000" y="247650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 txBox="1"/>
            <p:nvPr/>
          </p:nvSpPr>
          <p:spPr>
            <a:xfrm>
              <a:off x="533400" y="2400300"/>
              <a:ext cx="3467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Location Impact</a:t>
              </a:r>
              <a:endParaRPr sz="97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Compared average pricing variations across different Bengaluru neighborhoods.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381000" y="314325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8"/>
            <p:cNvSpPr txBox="1"/>
            <p:nvPr/>
          </p:nvSpPr>
          <p:spPr>
            <a:xfrm>
              <a:off x="533400" y="3067050"/>
              <a:ext cx="3467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Feature Correlation</a:t>
              </a:r>
              <a:endParaRPr sz="97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Analyzed how independent variables like square footage and BHK strongly correlate with the final price.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381000" y="381000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533400" y="3733800"/>
              <a:ext cx="34671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Outlier Detection</a:t>
              </a:r>
              <a:endParaRPr sz="97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Identified extreme anomalies in property prices and sizes that could skew model accuracy.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4648200" y="1143000"/>
            <a:ext cx="4114800" cy="3190800"/>
            <a:chOff x="4648200" y="1143000"/>
            <a:chExt cx="4114800" cy="3190800"/>
          </a:xfrm>
        </p:grpSpPr>
        <p:grpSp>
          <p:nvGrpSpPr>
            <p:cNvPr id="236" name="Google Shape;236;p18"/>
            <p:cNvGrpSpPr/>
            <p:nvPr/>
          </p:nvGrpSpPr>
          <p:grpSpPr>
            <a:xfrm>
              <a:off x="4648200" y="1143000"/>
              <a:ext cx="4114800" cy="2314500"/>
              <a:chOff x="0" y="0"/>
              <a:chExt cx="4114800" cy="2314500"/>
            </a:xfrm>
          </p:grpSpPr>
          <p:pic>
            <p:nvPicPr>
              <p:cNvPr id="237" name="Google Shape;237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0" y="0"/>
                <a:ext cx="4114800" cy="2314500"/>
              </a:xfrm>
              <a:prstGeom prst="roundRect">
                <a:avLst>
                  <a:gd name="adj" fmla="val 1646"/>
                </a:avLst>
              </a:prstGeom>
              <a:noFill/>
              <a:ln>
                <a:noFill/>
              </a:ln>
            </p:spPr>
          </p:pic>
          <p:sp>
            <p:nvSpPr>
              <p:cNvPr id="238" name="Google Shape;238;p18"/>
              <p:cNvSpPr/>
              <p:nvPr/>
            </p:nvSpPr>
            <p:spPr>
              <a:xfrm>
                <a:off x="0" y="0"/>
                <a:ext cx="4114800" cy="2314500"/>
              </a:xfrm>
              <a:prstGeom prst="roundRect">
                <a:avLst>
                  <a:gd name="adj" fmla="val 1646"/>
                </a:avLst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8"/>
            <p:cNvGrpSpPr/>
            <p:nvPr/>
          </p:nvGrpSpPr>
          <p:grpSpPr>
            <a:xfrm>
              <a:off x="4648200" y="3619500"/>
              <a:ext cx="4114800" cy="714300"/>
              <a:chOff x="0" y="0"/>
              <a:chExt cx="4114800" cy="714300"/>
            </a:xfrm>
          </p:grpSpPr>
          <p:sp>
            <p:nvSpPr>
              <p:cNvPr id="240" name="Google Shape;240;p18"/>
              <p:cNvSpPr/>
              <p:nvPr/>
            </p:nvSpPr>
            <p:spPr>
              <a:xfrm>
                <a:off x="0" y="0"/>
                <a:ext cx="4114800" cy="714300"/>
              </a:xfrm>
              <a:prstGeom prst="roundRect">
                <a:avLst>
                  <a:gd name="adj" fmla="val 5333"/>
                </a:avLst>
              </a:prstGeom>
              <a:solidFill>
                <a:srgbClr val="F4F7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0" y="0"/>
                <a:ext cx="57300" cy="714300"/>
              </a:xfrm>
              <a:prstGeom prst="roundRect">
                <a:avLst>
                  <a:gd name="adj" fmla="val 50000"/>
                </a:avLst>
              </a:prstGeom>
              <a:solidFill>
                <a:srgbClr val="4CA1A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 txBox="1"/>
              <p:nvPr/>
            </p:nvSpPr>
            <p:spPr>
              <a:xfrm>
                <a:off x="190500" y="0"/>
                <a:ext cx="37338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033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Tools: Matplotlib &amp; Seaborn</a:t>
                </a:r>
                <a:endParaRPr sz="750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25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Leveraged Python's Matplotlib and Seaborn libraries to generate comprehensive visual representations of these complex data relationships.</a:t>
                </a:r>
                <a:endParaRPr sz="8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249;p19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250" name="Google Shape;250;p19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" name="Google Shape;252;p19"/>
            <p:cNvSpPr txBox="1"/>
            <p:nvPr/>
          </p:nvSpPr>
          <p:spPr>
            <a:xfrm>
              <a:off x="3010829" y="190499"/>
              <a:ext cx="5752171" cy="238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r"/>
              <a:r>
                <a:rPr lang="en-US" sz="120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AI/ML - Based House Price Prediction &amp; Property Recommendation System</a:t>
              </a:r>
            </a:p>
          </p:txBody>
        </p:sp>
        <p:grpSp>
          <p:nvGrpSpPr>
            <p:cNvPr id="253" name="Google Shape;253;p19"/>
            <p:cNvGrpSpPr/>
            <p:nvPr/>
          </p:nvGrpSpPr>
          <p:grpSpPr>
            <a:xfrm>
              <a:off x="381000" y="190500"/>
              <a:ext cx="182880" cy="182880"/>
              <a:chOff x="0" y="0"/>
              <a:chExt cx="304800" cy="304800"/>
            </a:xfrm>
          </p:grpSpPr>
          <p:sp>
            <p:nvSpPr>
              <p:cNvPr id="254" name="Google Shape;254;p19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7" name="Google Shape;257;p19"/>
          <p:cNvSpPr txBox="1"/>
          <p:nvPr/>
        </p:nvSpPr>
        <p:spPr>
          <a:xfrm>
            <a:off x="381000" y="57150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The project has successfully completed the initial 20% phase, delivering a clean dataset and comprehensive EDA.</a:t>
            </a:r>
            <a:endParaRPr sz="1575" b="1">
              <a:solidFill>
                <a:srgbClr val="00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81000" y="13335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Milestones Achieved</a:t>
            </a:r>
            <a:endParaRPr sz="1200" b="0">
              <a:solidFill>
                <a:srgbClr val="00336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59" name="Google Shape;259;p19"/>
          <p:cNvGrpSpPr/>
          <p:nvPr/>
        </p:nvGrpSpPr>
        <p:grpSpPr>
          <a:xfrm>
            <a:off x="381000" y="1666875"/>
            <a:ext cx="4000500" cy="1619400"/>
            <a:chOff x="381000" y="1666875"/>
            <a:chExt cx="4000500" cy="1619400"/>
          </a:xfrm>
        </p:grpSpPr>
        <p:grpSp>
          <p:nvGrpSpPr>
            <p:cNvPr id="260" name="Google Shape;260;p19"/>
            <p:cNvGrpSpPr/>
            <p:nvPr/>
          </p:nvGrpSpPr>
          <p:grpSpPr>
            <a:xfrm>
              <a:off x="381000" y="1666875"/>
              <a:ext cx="4000500" cy="476400"/>
              <a:chOff x="0" y="0"/>
              <a:chExt cx="4000500" cy="476400"/>
            </a:xfrm>
          </p:grpSpPr>
          <p:sp>
            <p:nvSpPr>
              <p:cNvPr id="261" name="Google Shape;261;p19"/>
              <p:cNvSpPr/>
              <p:nvPr/>
            </p:nvSpPr>
            <p:spPr>
              <a:xfrm>
                <a:off x="0" y="47625"/>
                <a:ext cx="76200" cy="76200"/>
              </a:xfrm>
              <a:prstGeom prst="roundRect">
                <a:avLst>
                  <a:gd name="adj" fmla="val 12500"/>
                </a:avLst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 txBox="1"/>
              <p:nvPr/>
            </p:nvSpPr>
            <p:spPr>
              <a:xfrm>
                <a:off x="190500" y="0"/>
                <a:ext cx="381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75" b="0">
                    <a:solidFill>
                      <a:srgbClr val="0033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Project Title Approved</a:t>
                </a:r>
                <a:endParaRPr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Project title finalized and approved by the academic committee.</a:t>
                </a:r>
                <a:endParaRPr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3" name="Google Shape;263;p19"/>
            <p:cNvGrpSpPr/>
            <p:nvPr/>
          </p:nvGrpSpPr>
          <p:grpSpPr>
            <a:xfrm>
              <a:off x="381000" y="2238375"/>
              <a:ext cx="4000500" cy="476400"/>
              <a:chOff x="0" y="0"/>
              <a:chExt cx="4000500" cy="476400"/>
            </a:xfrm>
          </p:grpSpPr>
          <p:sp>
            <p:nvSpPr>
              <p:cNvPr id="264" name="Google Shape;264;p19"/>
              <p:cNvSpPr/>
              <p:nvPr/>
            </p:nvSpPr>
            <p:spPr>
              <a:xfrm>
                <a:off x="0" y="47625"/>
                <a:ext cx="76200" cy="76200"/>
              </a:xfrm>
              <a:prstGeom prst="roundRect">
                <a:avLst>
                  <a:gd name="adj" fmla="val 12500"/>
                </a:avLst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 txBox="1"/>
              <p:nvPr/>
            </p:nvSpPr>
            <p:spPr>
              <a:xfrm>
                <a:off x="190500" y="0"/>
                <a:ext cx="381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75" b="0">
                    <a:solidFill>
                      <a:srgbClr val="0033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Raw Dataset Acquired</a:t>
                </a:r>
                <a:endParaRPr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Raw dataset successfully collected and imported into the development environment.</a:t>
                </a:r>
                <a:endParaRPr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66" name="Google Shape;266;p19"/>
            <p:cNvGrpSpPr/>
            <p:nvPr/>
          </p:nvGrpSpPr>
          <p:grpSpPr>
            <a:xfrm>
              <a:off x="381000" y="2809875"/>
              <a:ext cx="4000500" cy="476400"/>
              <a:chOff x="0" y="0"/>
              <a:chExt cx="4000500" cy="476400"/>
            </a:xfrm>
          </p:grpSpPr>
          <p:sp>
            <p:nvSpPr>
              <p:cNvPr id="267" name="Google Shape;267;p19"/>
              <p:cNvSpPr/>
              <p:nvPr/>
            </p:nvSpPr>
            <p:spPr>
              <a:xfrm>
                <a:off x="0" y="47625"/>
                <a:ext cx="76200" cy="76200"/>
              </a:xfrm>
              <a:prstGeom prst="roundRect">
                <a:avLst>
                  <a:gd name="adj" fmla="val 12500"/>
                </a:avLst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 txBox="1"/>
              <p:nvPr/>
            </p:nvSpPr>
            <p:spPr>
              <a:xfrm>
                <a:off x="190500" y="0"/>
                <a:ext cx="3810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75" b="0">
                    <a:solidFill>
                      <a:srgbClr val="00336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Data Preparation &amp; Analysis Complete</a:t>
                </a:r>
                <a:endParaRPr sz="97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Inter"/>
                    <a:ea typeface="Inter"/>
                    <a:cs typeface="Inter"/>
                    <a:sym typeface="Inter"/>
                  </a:rPr>
                  <a:t>Comprehensive data cleaning and Exploratory Data Analysis (EDA) phases are fully completed.</a:t>
                </a:r>
                <a:endParaRPr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9" name="Google Shape;269;p19"/>
          <p:cNvGrpSpPr/>
          <p:nvPr/>
        </p:nvGrpSpPr>
        <p:grpSpPr>
          <a:xfrm>
            <a:off x="381000" y="3429000"/>
            <a:ext cx="4000500" cy="1333500"/>
            <a:chOff x="0" y="0"/>
            <a:chExt cx="4000500" cy="133350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4000500" cy="1333500"/>
            </a:xfrm>
            <a:prstGeom prst="roundRect">
              <a:avLst>
                <a:gd name="adj" fmla="val 4285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0" y="0"/>
              <a:ext cx="38100" cy="13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3429"/>
                  </a:moveTo>
                  <a:lnTo>
                    <a:pt x="0" y="116571"/>
                  </a:lnTo>
                  <a:cubicBezTo>
                    <a:pt x="-4" y="117480"/>
                    <a:pt x="12637" y="118353"/>
                    <a:pt x="35142" y="118996"/>
                  </a:cubicBezTo>
                  <a:cubicBezTo>
                    <a:pt x="57647" y="119639"/>
                    <a:pt x="88171" y="120000"/>
                    <a:pt x="120000" y="120000"/>
                  </a:cubicBezTo>
                  <a:lnTo>
                    <a:pt x="120000" y="0"/>
                  </a:lnTo>
                  <a:cubicBezTo>
                    <a:pt x="88174" y="0"/>
                    <a:pt x="57652" y="361"/>
                    <a:pt x="35147" y="1004"/>
                  </a:cubicBezTo>
                  <a:cubicBezTo>
                    <a:pt x="12643" y="1647"/>
                    <a:pt x="0" y="2519"/>
                    <a:pt x="0" y="3429"/>
                  </a:cubicBezTo>
                  <a:close/>
                </a:path>
              </a:pathLst>
            </a:custGeom>
            <a:solidFill>
              <a:srgbClr val="4CA1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228600" y="152400"/>
              <a:ext cx="3543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00336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CURRENT DELIVERABLES</a:t>
              </a:r>
              <a:endParaRPr sz="825" b="0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457200" lvl="0" indent="-285750" algn="l" rtl="0">
                <a:spcBef>
                  <a:spcPts val="600"/>
                </a:spcBef>
                <a:spcAft>
                  <a:spcPts val="0"/>
                </a:spcAft>
                <a:buClr>
                  <a:srgbClr val="0055A4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 fully sanitized and structured dataset ready for machine learning ingestion.</a:t>
              </a:r>
              <a:endParaRPr sz="900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5750" algn="l" rtl="0">
                <a:spcBef>
                  <a:spcPts val="450"/>
                </a:spcBef>
                <a:spcAft>
                  <a:spcPts val="0"/>
                </a:spcAft>
                <a:buClr>
                  <a:srgbClr val="0055A4"/>
                </a:buClr>
                <a:buSzPts val="900"/>
                <a:buFont typeface="Inter"/>
                <a:buChar char="●"/>
              </a:pPr>
              <a:r>
                <a:rPr lang="en" sz="90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 detailed EDA Jupyter Notebook documenting all statistical findings and visualizations.</a:t>
              </a:r>
              <a:endParaRPr sz="900">
                <a:solidFill>
                  <a:srgbClr val="0055A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3" name="Google Shape;273;p19"/>
          <p:cNvGrpSpPr/>
          <p:nvPr/>
        </p:nvGrpSpPr>
        <p:grpSpPr>
          <a:xfrm>
            <a:off x="4762500" y="1333500"/>
            <a:ext cx="3619500" cy="1238400"/>
            <a:chOff x="0" y="0"/>
            <a:chExt cx="3619500" cy="1238400"/>
          </a:xfrm>
        </p:grpSpPr>
        <p:sp>
          <p:nvSpPr>
            <p:cNvPr id="274" name="Google Shape;274;p19"/>
            <p:cNvSpPr/>
            <p:nvPr/>
          </p:nvSpPr>
          <p:spPr>
            <a:xfrm>
              <a:off x="0" y="0"/>
              <a:ext cx="3619500" cy="1238400"/>
            </a:xfrm>
            <a:prstGeom prst="roundRect">
              <a:avLst>
                <a:gd name="adj" fmla="val 4615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name="adj" fmla="val 500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228600" y="171450"/>
              <a:ext cx="3162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50" b="0">
                  <a:solidFill>
                    <a:srgbClr val="003366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20%</a:t>
              </a:r>
              <a:endParaRPr sz="2850" b="0">
                <a:solidFill>
                  <a:srgbClr val="003366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25" b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LIFE CYCLE PROGRESS</a:t>
              </a:r>
              <a:endParaRPr sz="825" b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Approximately 20% of the total project lifecycle has been successfully executed.</a:t>
              </a:r>
              <a:endParaRPr sz="9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7" name="Google Shape;277;p19"/>
          <p:cNvGrpSpPr/>
          <p:nvPr/>
        </p:nvGrpSpPr>
        <p:grpSpPr>
          <a:xfrm>
            <a:off x="5543550" y="2714625"/>
            <a:ext cx="2047800" cy="2047800"/>
            <a:chOff x="0" y="0"/>
            <a:chExt cx="2047800" cy="2047800"/>
          </a:xfrm>
        </p:grpSpPr>
        <p:sp>
          <p:nvSpPr>
            <p:cNvPr id="278" name="Google Shape;278;p19"/>
            <p:cNvSpPr/>
            <p:nvPr/>
          </p:nvSpPr>
          <p:spPr>
            <a:xfrm>
              <a:off x="0" y="0"/>
              <a:ext cx="2047800" cy="2047800"/>
            </a:xfrm>
            <a:prstGeom prst="roundRect">
              <a:avLst>
                <a:gd name="adj" fmla="val 186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9" name="Google Shape;279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2047800" cy="2047800"/>
            </a:xfrm>
            <a:prstGeom prst="roundRect">
              <a:avLst>
                <a:gd name="adj" fmla="val 1860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5715000" y="0"/>
            <a:ext cx="3429000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3333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55A4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" name="Google Shape;286;p20"/>
          <p:cNvGrpSpPr/>
          <p:nvPr/>
        </p:nvGrpSpPr>
        <p:grpSpPr>
          <a:xfrm>
            <a:off x="8382000" y="4191000"/>
            <a:ext cx="495300" cy="495300"/>
            <a:chOff x="0" y="0"/>
            <a:chExt cx="495300" cy="495300"/>
          </a:xfrm>
        </p:grpSpPr>
        <p:sp>
          <p:nvSpPr>
            <p:cNvPr id="287" name="Google Shape;287;p20"/>
            <p:cNvSpPr/>
            <p:nvPr/>
          </p:nvSpPr>
          <p:spPr>
            <a:xfrm>
              <a:off x="0" y="0"/>
              <a:ext cx="38100" cy="38100"/>
            </a:xfrm>
            <a:prstGeom prst="ellipse">
              <a:avLst/>
            </a:prstGeom>
            <a:solidFill>
              <a:srgbClr val="E2E8F0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114300" y="0"/>
              <a:ext cx="38100" cy="38100"/>
            </a:xfrm>
            <a:prstGeom prst="ellipse">
              <a:avLst/>
            </a:prstGeom>
            <a:solidFill>
              <a:srgbClr val="E2E8F0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228600" y="0"/>
              <a:ext cx="38100" cy="38100"/>
            </a:xfrm>
            <a:prstGeom prst="ellipse">
              <a:avLst/>
            </a:prstGeom>
            <a:solidFill>
              <a:srgbClr val="E2E8F0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342900" y="0"/>
              <a:ext cx="38100" cy="38100"/>
            </a:xfrm>
            <a:prstGeom prst="ellipse">
              <a:avLst/>
            </a:prstGeom>
            <a:solidFill>
              <a:srgbClr val="E2E8F0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1" name="Google Shape;29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60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90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1143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6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9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2286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429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" y="3429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600" y="3429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900" y="3429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3429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4572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00" y="4572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600" y="4572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900" y="4572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200" y="457200"/>
              <a:ext cx="38100" cy="3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20"/>
          <p:cNvSpPr txBox="1"/>
          <p:nvPr/>
        </p:nvSpPr>
        <p:spPr>
          <a:xfrm>
            <a:off x="3085171" y="285750"/>
            <a:ext cx="5677829" cy="261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/>
            <a:r>
              <a:rPr lang="en-US" sz="1200" dirty="0">
                <a:solidFill>
                  <a:schemeClr val="bg1"/>
                </a:solidFill>
                <a:latin typeface="Inter Medium"/>
                <a:ea typeface="Inter Medium"/>
                <a:cs typeface="Inter Medium"/>
                <a:sym typeface="Inter Medium"/>
              </a:rPr>
              <a:t>AI/ML - Based House Price Prediction &amp; Property Recommendation System</a:t>
            </a:r>
          </a:p>
        </p:txBody>
      </p:sp>
      <p:grpSp>
        <p:nvGrpSpPr>
          <p:cNvPr id="313" name="Google Shape;313;p20"/>
          <p:cNvGrpSpPr/>
          <p:nvPr/>
        </p:nvGrpSpPr>
        <p:grpSpPr>
          <a:xfrm>
            <a:off x="366713" y="762000"/>
            <a:ext cx="4029000" cy="3976613"/>
            <a:chOff x="-14287" y="0"/>
            <a:chExt cx="4029000" cy="3976613"/>
          </a:xfrm>
        </p:grpSpPr>
        <p:sp>
          <p:nvSpPr>
            <p:cNvPr id="314" name="Google Shape;314;p20"/>
            <p:cNvSpPr txBox="1"/>
            <p:nvPr/>
          </p:nvSpPr>
          <p:spPr>
            <a:xfrm>
              <a:off x="0" y="0"/>
              <a:ext cx="4000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PR3 Technical Roadmap</a:t>
              </a:r>
              <a:endParaRPr sz="21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50" b="0" dirty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The next project phase focuses on feature engineering and training advanced machine learning models.</a:t>
              </a:r>
              <a:endParaRPr sz="1050" b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315" name="Google Shape;315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4287" y="1700213"/>
              <a:ext cx="4029000" cy="22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0"/>
            <p:cNvPicPr preferRelativeResize="0"/>
            <p:nvPr/>
          </p:nvPicPr>
          <p:blipFill rotWithShape="1">
            <a:blip r:embed="rId5">
              <a:alphaModFix/>
            </a:blip>
            <a:srcRect t="50" b="60"/>
            <a:stretch/>
          </p:blipFill>
          <p:spPr>
            <a:xfrm>
              <a:off x="0" y="1714500"/>
              <a:ext cx="4000500" cy="2247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7" name="Google Shape;317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3475" y="952500"/>
            <a:ext cx="19200" cy="300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0"/>
          <p:cNvGrpSpPr/>
          <p:nvPr/>
        </p:nvGrpSpPr>
        <p:grpSpPr>
          <a:xfrm>
            <a:off x="4762500" y="762000"/>
            <a:ext cx="4000500" cy="857400"/>
            <a:chOff x="0" y="0"/>
            <a:chExt cx="4000500" cy="857400"/>
          </a:xfrm>
        </p:grpSpPr>
        <p:sp>
          <p:nvSpPr>
            <p:cNvPr id="319" name="Google Shape;319;p20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0055A4"/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975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1" name="Google Shape;321;p20"/>
            <p:cNvSpPr txBox="1"/>
            <p:nvPr/>
          </p:nvSpPr>
          <p:spPr>
            <a:xfrm>
              <a:off x="533400" y="0"/>
              <a:ext cx="3467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4CA1AF"/>
                  </a:solidFill>
                  <a:latin typeface="Inter"/>
                  <a:ea typeface="Inter"/>
                  <a:cs typeface="Inter"/>
                  <a:sym typeface="Inter"/>
                </a:rPr>
                <a:t>Feature Engineering</a:t>
              </a:r>
              <a:endParaRPr sz="825" b="1">
                <a:solidFill>
                  <a:srgbClr val="4CA1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Applying categorical encoding and numerical scaling to optimize inputs.</a:t>
              </a:r>
              <a:endParaRPr sz="9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2" name="Google Shape;322;p20"/>
          <p:cNvGrpSpPr/>
          <p:nvPr/>
        </p:nvGrpSpPr>
        <p:grpSpPr>
          <a:xfrm>
            <a:off x="4762500" y="1762125"/>
            <a:ext cx="4000500" cy="857400"/>
            <a:chOff x="0" y="0"/>
            <a:chExt cx="4000500" cy="857400"/>
          </a:xfrm>
        </p:grpSpPr>
        <p:sp>
          <p:nvSpPr>
            <p:cNvPr id="323" name="Google Shape;323;p20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0055A4"/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975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533400" y="0"/>
              <a:ext cx="3467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4CA1AF"/>
                  </a:solidFill>
                  <a:latin typeface="Inter"/>
                  <a:ea typeface="Inter"/>
                  <a:cs typeface="Inter"/>
                  <a:sym typeface="Inter"/>
                </a:rPr>
                <a:t>Data Splitting</a:t>
              </a:r>
              <a:endParaRPr sz="825" b="1">
                <a:solidFill>
                  <a:srgbClr val="4CA1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Executing a rigorous Train-Test split to ensure valid model evaluation.</a:t>
              </a:r>
              <a:endParaRPr sz="9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6" name="Google Shape;326;p20"/>
          <p:cNvGrpSpPr/>
          <p:nvPr/>
        </p:nvGrpSpPr>
        <p:grpSpPr>
          <a:xfrm>
            <a:off x="4762500" y="2762250"/>
            <a:ext cx="4000500" cy="857400"/>
            <a:chOff x="0" y="0"/>
            <a:chExt cx="4000500" cy="857400"/>
          </a:xfrm>
        </p:grpSpPr>
        <p:sp>
          <p:nvSpPr>
            <p:cNvPr id="327" name="Google Shape;327;p20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0055A4"/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0"/>
            <p:cNvSpPr txBox="1"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975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9" name="Google Shape;329;p20"/>
            <p:cNvSpPr txBox="1"/>
            <p:nvPr/>
          </p:nvSpPr>
          <p:spPr>
            <a:xfrm>
              <a:off x="533400" y="0"/>
              <a:ext cx="3467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4CA1AF"/>
                  </a:solidFill>
                  <a:latin typeface="Inter"/>
                  <a:ea typeface="Inter"/>
                  <a:cs typeface="Inter"/>
                  <a:sym typeface="Inter"/>
                </a:rPr>
                <a:t>Model Training</a:t>
              </a:r>
              <a:endParaRPr sz="825" b="1">
                <a:solidFill>
                  <a:srgbClr val="4CA1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Implementing multiple algorithms, including Linear Regression, Decision Trees, Random Forest, and XGBoost.</a:t>
              </a:r>
              <a:endParaRPr sz="9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0" name="Google Shape;330;p20"/>
          <p:cNvGrpSpPr/>
          <p:nvPr/>
        </p:nvGrpSpPr>
        <p:grpSpPr>
          <a:xfrm>
            <a:off x="4762500" y="3762375"/>
            <a:ext cx="4000500" cy="952500"/>
            <a:chOff x="0" y="0"/>
            <a:chExt cx="4000500" cy="952500"/>
          </a:xfrm>
        </p:grpSpPr>
        <p:sp>
          <p:nvSpPr>
            <p:cNvPr id="331" name="Google Shape;331;p20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0055A4"/>
            </a:solidFill>
            <a:ln w="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0"/>
            <p:cNvSpPr txBox="1"/>
            <p:nvPr/>
          </p:nvSpPr>
          <p:spPr>
            <a:xfrm>
              <a:off x="0" y="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975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3" name="Google Shape;333;p20"/>
            <p:cNvSpPr txBox="1"/>
            <p:nvPr/>
          </p:nvSpPr>
          <p:spPr>
            <a:xfrm>
              <a:off x="533400" y="0"/>
              <a:ext cx="3467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25" b="1">
                  <a:solidFill>
                    <a:srgbClr val="4CA1AF"/>
                  </a:solidFill>
                  <a:latin typeface="Inter"/>
                  <a:ea typeface="Inter"/>
                  <a:cs typeface="Inter"/>
                  <a:sym typeface="Inter"/>
                </a:rPr>
                <a:t>Evaluation &amp; Deployment</a:t>
              </a:r>
              <a:endParaRPr sz="825" b="1">
                <a:solidFill>
                  <a:srgbClr val="4CA1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Comparing model accuracy metrics to select the best performer, followed by saving the final model as a structured .pkl file for future integration.</a:t>
              </a:r>
              <a:endParaRPr sz="900" b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39" name="Google Shape;339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" name="Google Shape;340;p21"/>
            <p:cNvGrpSpPr/>
            <p:nvPr/>
          </p:nvGrpSpPr>
          <p:grpSpPr>
            <a:xfrm>
              <a:off x="0" y="0"/>
              <a:ext cx="9144000" cy="76350"/>
              <a:chOff x="0" y="0"/>
              <a:chExt cx="9144000" cy="76350"/>
            </a:xfrm>
          </p:grpSpPr>
          <p:sp>
            <p:nvSpPr>
              <p:cNvPr id="341" name="Google Shape;341;p21"/>
              <p:cNvSpPr/>
              <p:nvPr/>
            </p:nvSpPr>
            <p:spPr>
              <a:xfrm>
                <a:off x="0" y="0"/>
                <a:ext cx="9144000" cy="57300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0" y="57150"/>
                <a:ext cx="1143000" cy="19200"/>
              </a:xfrm>
              <a:prstGeom prst="rect">
                <a:avLst/>
              </a:prstGeom>
              <a:solidFill>
                <a:srgbClr val="0055A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3" name="Google Shape;343;p21"/>
            <p:cNvSpPr txBox="1"/>
            <p:nvPr/>
          </p:nvSpPr>
          <p:spPr>
            <a:xfrm>
              <a:off x="2743200" y="190500"/>
              <a:ext cx="6019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r"/>
              <a:r>
                <a:rPr lang="en-US" sz="1200" dirty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AI/ML - Based House Price Prediction &amp; Property Recommendation System</a:t>
              </a:r>
            </a:p>
          </p:txBody>
        </p:sp>
        <p:grpSp>
          <p:nvGrpSpPr>
            <p:cNvPr id="344" name="Google Shape;344;p21"/>
            <p:cNvGrpSpPr/>
            <p:nvPr/>
          </p:nvGrpSpPr>
          <p:grpSpPr>
            <a:xfrm>
              <a:off x="381000" y="190500"/>
              <a:ext cx="182880" cy="182880"/>
              <a:chOff x="0" y="0"/>
              <a:chExt cx="304800" cy="304800"/>
            </a:xfrm>
          </p:grpSpPr>
          <p:sp>
            <p:nvSpPr>
              <p:cNvPr id="345" name="Google Shape;345;p21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95250" y="95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60000" y="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>
                <a:off x="133350" y="152400"/>
                <a:ext cx="38100" cy="38100"/>
              </a:xfrm>
              <a:prstGeom prst="ellipse">
                <a:avLst/>
              </a:prstGeom>
              <a:solidFill>
                <a:srgbClr val="00336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8" name="Google Shape;348;p21"/>
          <p:cNvSpPr txBox="1"/>
          <p:nvPr/>
        </p:nvSpPr>
        <p:spPr>
          <a:xfrm>
            <a:off x="381000" y="523875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Successful data preparation lays the groundwork for accurate price predictions and smart property recommendations.</a:t>
            </a:r>
            <a:endParaRPr sz="1800" b="1">
              <a:solidFill>
                <a:srgbClr val="0033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9" name="Google Shape;349;p21"/>
          <p:cNvGrpSpPr/>
          <p:nvPr/>
        </p:nvGrpSpPr>
        <p:grpSpPr>
          <a:xfrm>
            <a:off x="381000" y="1619250"/>
            <a:ext cx="3810000" cy="3000300"/>
            <a:chOff x="381000" y="1619250"/>
            <a:chExt cx="3810000" cy="3000300"/>
          </a:xfrm>
        </p:grpSpPr>
        <p:sp>
          <p:nvSpPr>
            <p:cNvPr id="350" name="Google Shape;350;p21"/>
            <p:cNvSpPr/>
            <p:nvPr/>
          </p:nvSpPr>
          <p:spPr>
            <a:xfrm>
              <a:off x="381000" y="1619250"/>
              <a:ext cx="3810000" cy="3000300"/>
            </a:xfrm>
            <a:prstGeom prst="roundRect">
              <a:avLst>
                <a:gd name="adj" fmla="val 1904"/>
              </a:avLst>
            </a:prstGeom>
            <a:solidFill>
              <a:srgbClr val="F4F7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381000" y="1619250"/>
              <a:ext cx="57300" cy="3000300"/>
            </a:xfrm>
            <a:prstGeom prst="roundRect">
              <a:avLst>
                <a:gd name="adj" fmla="val 50000"/>
              </a:avLst>
            </a:prstGeom>
            <a:solidFill>
              <a:srgbClr val="4CA1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1"/>
            <p:cNvSpPr txBox="1"/>
            <p:nvPr/>
          </p:nvSpPr>
          <p:spPr>
            <a:xfrm>
              <a:off x="619125" y="1857375"/>
              <a:ext cx="3333900" cy="25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CA1A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FOUNDATION &amp; ANALYSIS</a:t>
              </a:r>
              <a:endParaRPr sz="750" b="0">
                <a:solidFill>
                  <a:srgbClr val="4CA1A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3366"/>
                  </a:solidFill>
                  <a:latin typeface="Inter"/>
                  <a:ea typeface="Inter"/>
                  <a:cs typeface="Inter"/>
                  <a:sym typeface="Inter"/>
                </a:rPr>
                <a:t>Project Summary</a:t>
              </a:r>
              <a:endParaRPr sz="150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013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• We have successfully completed the foundational data preparation and Exploratory Data Analysis phases.</a:t>
              </a:r>
              <a:endParaRPr sz="1013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13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• The dataset is now fully optimized and ready for the intensive machine learning model development phase.</a:t>
              </a:r>
              <a:endParaRPr sz="1013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3" name="Google Shape;353;p21"/>
          <p:cNvGrpSpPr/>
          <p:nvPr/>
        </p:nvGrpSpPr>
        <p:grpSpPr>
          <a:xfrm>
            <a:off x="4572000" y="1619250"/>
            <a:ext cx="4191000" cy="3162300"/>
            <a:chOff x="4572000" y="1619250"/>
            <a:chExt cx="4191000" cy="3162300"/>
          </a:xfrm>
        </p:grpSpPr>
        <p:sp>
          <p:nvSpPr>
            <p:cNvPr id="354" name="Google Shape;354;p21"/>
            <p:cNvSpPr txBox="1"/>
            <p:nvPr/>
          </p:nvSpPr>
          <p:spPr>
            <a:xfrm>
              <a:off x="4572000" y="1619250"/>
              <a:ext cx="419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0055A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EXPECTED FINAL OUTCOMES</a:t>
              </a:r>
              <a:endParaRPr sz="750" b="0">
                <a:solidFill>
                  <a:srgbClr val="0055A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4572000" y="1962150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1"/>
            <p:cNvSpPr txBox="1"/>
            <p:nvPr/>
          </p:nvSpPr>
          <p:spPr>
            <a:xfrm>
              <a:off x="4724400" y="1905000"/>
              <a:ext cx="403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Deployment of a high-accuracy price prediction engine tailored to the Bengaluru real estate market.</a:t>
              </a:r>
              <a:endParaRPr sz="975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4572000" y="2581275"/>
              <a:ext cx="76200" cy="76200"/>
            </a:xfrm>
            <a:prstGeom prst="roundRect">
              <a:avLst>
                <a:gd name="adj" fmla="val 12500"/>
              </a:avLst>
            </a:prstGeom>
            <a:solidFill>
              <a:srgbClr val="0055A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4724400" y="2524125"/>
              <a:ext cx="403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5" b="0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Integration of a smart recommendation system that matches users with ideal properties based on their specific constraints and preferences.</a:t>
              </a:r>
              <a:endParaRPr sz="975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21"/>
            <p:cNvGrpSpPr/>
            <p:nvPr/>
          </p:nvGrpSpPr>
          <p:grpSpPr>
            <a:xfrm>
              <a:off x="6000750" y="3190875"/>
              <a:ext cx="1333500" cy="1333500"/>
              <a:chOff x="6000750" y="3190875"/>
              <a:chExt cx="1333500" cy="1333500"/>
            </a:xfrm>
          </p:grpSpPr>
          <p:sp>
            <p:nvSpPr>
              <p:cNvPr id="360" name="Google Shape;360;p21"/>
              <p:cNvSpPr/>
              <p:nvPr/>
            </p:nvSpPr>
            <p:spPr>
              <a:xfrm>
                <a:off x="6000750" y="3190875"/>
                <a:ext cx="1333500" cy="1333500"/>
              </a:xfrm>
              <a:prstGeom prst="roundRect">
                <a:avLst>
                  <a:gd name="adj" fmla="val 2857"/>
                </a:avLst>
              </a:pr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61" name="Google Shape;361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010275" y="3200400"/>
                <a:ext cx="1314600" cy="1314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2" name="Google Shape;362;p21"/>
            <p:cNvSpPr txBox="1"/>
            <p:nvPr/>
          </p:nvSpPr>
          <p:spPr>
            <a:xfrm>
              <a:off x="4572000" y="4591050"/>
              <a:ext cx="419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5" b="0">
                  <a:solidFill>
                    <a:srgbClr val="4A556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Smart Real Estate System Architecture</a:t>
              </a:r>
              <a:endParaRPr sz="675" b="0">
                <a:solidFill>
                  <a:srgbClr val="4A556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871</Words>
  <Application>Microsoft Office PowerPoint</Application>
  <PresentationFormat>On-screen Show (16:9)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</vt:lpstr>
      <vt:lpstr>Inter ExtraBold</vt:lpstr>
      <vt:lpstr>Inter SemiBold</vt:lpstr>
      <vt:lpstr>Inter</vt:lpstr>
      <vt:lpstr>Arial</vt:lpstr>
      <vt:lpstr>Inter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Ravi Patel</dc:creator>
  <cp:lastModifiedBy>Ravi Patel</cp:lastModifiedBy>
  <cp:revision>2</cp:revision>
  <dcterms:modified xsi:type="dcterms:W3CDTF">2026-07-08T13:43:07Z</dcterms:modified>
</cp:coreProperties>
</file>