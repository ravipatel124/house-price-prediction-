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Epilogue" panose="020B0604020202020204" charset="0"/>
      <p:regular r:id="rId17"/>
    </p:embeddedFont>
    <p:embeddedFont>
      <p:font typeface="Epilogue Bold" panose="020B0604020202020204" charset="0"/>
      <p:regular r:id="rId18"/>
    </p:embeddedFont>
    <p:embeddedFont>
      <p:font typeface="Fraunces Medium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1" autoAdjust="0"/>
  </p:normalViewPr>
  <p:slideViewPr>
    <p:cSldViewPr snapToGrid="0" snapToObjects="1">
      <p:cViewPr varScale="1">
        <p:scale>
          <a:sx n="78" d="100"/>
          <a:sy n="78" d="100"/>
        </p:scale>
        <p:origin x="29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0040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26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28315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2295525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Progress Report 5 — Flask Web Application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3760291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Topic:</a:t>
            </a: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Flask Web Application Development &amp; Local Deployment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233360" y="4275336"/>
            <a:ext cx="2811789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8C98C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46765" y="4331990"/>
            <a:ext cx="319456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8C98C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CE0727 — SOFTWARE GROUP PROJECT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139603" y="4275336"/>
            <a:ext cx="2310052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8C98C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53008" y="4331990"/>
            <a:ext cx="269282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8C98C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SUBMISSION: 22 AUGUST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000522"/>
            <a:ext cx="3504219" cy="35043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201" y="1453257"/>
            <a:ext cx="690326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Team Members &amp; Project Details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4633201" y="2823567"/>
            <a:ext cx="6903269" cy="1247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Project Guide:</a:t>
            </a: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Dhwani Hakani Ma'am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College:</a:t>
            </a: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Indus Institute of Technology and Engineering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Subject:</a:t>
            </a: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CE0727 — Software Group Project</a:t>
            </a:r>
            <a:endParaRPr lang="en-US" sz="14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930080"/>
            <a:ext cx="3496877" cy="113992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77479" y="5144492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Ravi Patel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977479" y="5553174"/>
            <a:ext cx="296646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IU2341050103</a:t>
            </a:r>
            <a:endParaRPr lang="en-US" sz="14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4930080"/>
            <a:ext cx="3496877" cy="113992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663363" y="5144492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Kenil Patel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4663363" y="5553174"/>
            <a:ext cx="296646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IU2341050105</a:t>
            </a:r>
            <a:endParaRPr lang="en-US" sz="14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33244" y="4930080"/>
            <a:ext cx="3496877" cy="113992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349247" y="5144492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Vishnu Jikadara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8349247" y="5553174"/>
            <a:ext cx="296646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IU2341050114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8659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PR5 Objectives &amp; Work Completed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530945"/>
            <a:ext cx="5214609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Objectives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9041" y="2014488"/>
            <a:ext cx="270166" cy="2701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46851" y="2005608"/>
            <a:ext cx="462923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Develop responsive web interface with HTML &amp; CSS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9041" y="2907258"/>
            <a:ext cx="270166" cy="27017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46851" y="2898378"/>
            <a:ext cx="462923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Integrate trained ANN model with Flask backend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9041" y="3800029"/>
            <a:ext cx="270166" cy="27017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46851" y="3791148"/>
            <a:ext cx="462923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Create user input form for property details</a:t>
            </a:r>
            <a:endParaRPr lang="en-US" sz="1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9041" y="4692799"/>
            <a:ext cx="270166" cy="27017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46851" y="4683919"/>
            <a:ext cx="462923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Display real-time price predictions</a:t>
            </a:r>
            <a:endParaRPr lang="en-US" sz="14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9041" y="5585569"/>
            <a:ext cx="270166" cy="270173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246851" y="5576689"/>
            <a:ext cx="462923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Implement input validation &amp; error handling</a:t>
            </a:r>
            <a:endParaRPr lang="en-US" sz="1400" dirty="0"/>
          </a:p>
        </p:txBody>
      </p:sp>
      <p:sp>
        <p:nvSpPr>
          <p:cNvPr id="14" name="Text 7"/>
          <p:cNvSpPr/>
          <p:nvPr/>
        </p:nvSpPr>
        <p:spPr>
          <a:xfrm>
            <a:off x="6321961" y="1530945"/>
            <a:ext cx="5214609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Work Completed</a:t>
            </a:r>
            <a:endParaRPr lang="en-US" sz="1750" dirty="0"/>
          </a:p>
        </p:txBody>
      </p:sp>
      <p:sp>
        <p:nvSpPr>
          <p:cNvPr id="15" name="Text 8"/>
          <p:cNvSpPr/>
          <p:nvPr/>
        </p:nvSpPr>
        <p:spPr>
          <a:xfrm>
            <a:off x="6321961" y="1984077"/>
            <a:ext cx="5214609" cy="2953544"/>
          </a:xfrm>
          <a:prstGeom prst="rect">
            <a:avLst/>
          </a:prstGeom>
          <a:noFill/>
          <a:ln/>
        </p:spPr>
        <p:txBody>
          <a:bodyPr wrap="square" lIns="0" tIns="72063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Flask project structure setup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HTML form with input fields (sqft, bathrooms, balcony, BHK)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CSS styling for responsive design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Model loading &amp; scaler integration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Feature engineering pipeline in Flask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Prediction logic implementation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Input validation &amp; error messages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Local testing &amp; debugging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Flask Application Architecture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1058" y="2882702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Backend Components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221058" y="3085207"/>
            <a:ext cx="5315512" cy="524966"/>
          </a:xfrm>
          <a:prstGeom prst="rect">
            <a:avLst/>
          </a:prstGeom>
          <a:noFill/>
          <a:ln/>
        </p:spPr>
        <p:txBody>
          <a:bodyPr wrap="square" lIns="0" tIns="38985" rIns="0" bIns="0" rtlCol="0" anchor="t">
            <a:normAutofit/>
          </a:bodyPr>
          <a:lstStyle/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Model Loading:</a:t>
            </a: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Load trained ANN model (ann_model.keras)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Scaler Integration:</a:t>
            </a: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Load StandardScaler (scaler.pkl) for feature normalization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Feature Columns:</a:t>
            </a: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Load feature list (feature_columns.pkl) for 189-feature input construction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Location Extraction:</a:t>
            </a: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Parse location columns from feature set for dropdown menu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6221058" y="3660378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Frontend Components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221058" y="3862884"/>
            <a:ext cx="5315512" cy="524966"/>
          </a:xfrm>
          <a:prstGeom prst="rect">
            <a:avLst/>
          </a:prstGeom>
          <a:noFill/>
          <a:ln/>
        </p:spPr>
        <p:txBody>
          <a:bodyPr wrap="square" lIns="0" tIns="38985" rIns="0" bIns="0" rtlCol="0" anchor="t">
            <a:normAutofit/>
          </a:bodyPr>
          <a:lstStyle/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HTML Form:</a:t>
            </a: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Input fields for total_sqft, bath, balcony, bhk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Area Type Selector:</a:t>
            </a: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Dropdown with Super built-up Area, Built-up Area, Plot Area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Location Search:</a:t>
            </a: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Datalist with autocomplete for all available locations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Prediction Display:</a:t>
            </a:r>
            <a:r>
              <a:rPr lang="en-US" sz="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Shows predicted price in Lakhs (₹)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9785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Input Processing Pipeline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066528"/>
            <a:ext cx="10868745" cy="28760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99780" y="3038978"/>
            <a:ext cx="1642940" cy="294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User Input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499780" y="3416833"/>
            <a:ext cx="1642940" cy="470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Capture form fields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3382469" y="3121348"/>
            <a:ext cx="1642940" cy="294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Validation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3382469" y="3499203"/>
            <a:ext cx="1642940" cy="470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Check inputs and formats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265158" y="3038978"/>
            <a:ext cx="1642940" cy="588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Feature Vector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5265158" y="3711011"/>
            <a:ext cx="1642940" cy="470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Build 189-length vector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147847" y="3121348"/>
            <a:ext cx="1642941" cy="294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Encoding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7147847" y="3499203"/>
            <a:ext cx="1642941" cy="470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Area &amp; location one-hot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9040996" y="3038978"/>
            <a:ext cx="1642940" cy="294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Numerics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9040996" y="3416833"/>
            <a:ext cx="1642940" cy="470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sqft, bath, balcony, bhk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61475" y="515520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 nine-step pipeline ensures every user submission is validated, encoded, scaled, and passed through the ANN model to deliver a clean, real-time price prediction displayed directly in the browser.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6847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Code Implementation Highlights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031603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Flask Routes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661475" y="2539504"/>
            <a:ext cx="2507394" cy="2084685"/>
          </a:xfrm>
          <a:prstGeom prst="roundRect">
            <a:avLst>
              <a:gd name="adj" fmla="val 3808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6832" y="2734866"/>
            <a:ext cx="21166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GET /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56832" y="3219152"/>
            <a:ext cx="211668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Render home page with populated location dropdown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357875" y="2539504"/>
            <a:ext cx="2507394" cy="2084685"/>
          </a:xfrm>
          <a:prstGeom prst="roundRect">
            <a:avLst>
              <a:gd name="adj" fmla="val 3808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53232" y="2734866"/>
            <a:ext cx="21166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POST /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3553232" y="3219152"/>
            <a:ext cx="211668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Process form submission, validate inputs, generate &amp; return prediction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332776" y="2031603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Key Functions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332776" y="2515890"/>
            <a:ext cx="5203794" cy="330755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Model Loading:</a:t>
            </a: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Load keras model and pickle files on app startup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Location Parsing:</a:t>
            </a: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Extract unique locations from feature_columns for datalist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Input Validation:</a:t>
            </a: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Return error message if inputs fail validation checks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Feature Engineering:</a:t>
            </a: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Dynamically construct 189-feature input vector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Prediction:</a:t>
            </a: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Call </a:t>
            </a:r>
            <a:r>
              <a:rPr lang="en-US" sz="1450" dirty="0">
                <a:solidFill>
                  <a:srgbClr val="EBECEF"/>
                </a:solidFill>
                <a:highlight>
                  <a:srgbClr val="151B3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model.predict()</a:t>
            </a: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with </a:t>
            </a:r>
            <a:r>
              <a:rPr lang="en-US" sz="1450" dirty="0">
                <a:solidFill>
                  <a:srgbClr val="EBECEF"/>
                </a:solidFill>
                <a:highlight>
                  <a:srgbClr val="151B3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verbose=0</a:t>
            </a: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for clean output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2356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Deliverables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192238"/>
            <a:ext cx="378014" cy="3780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75723" y="2257127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Working Local Website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275723" y="2665809"/>
            <a:ext cx="2851178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Fully functional Flask application running on localhost with end-to-end prediction flow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2192238"/>
            <a:ext cx="378014" cy="3780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77383" y="2257127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Flask Backend — app.py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977383" y="2665809"/>
            <a:ext cx="285117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Model integration, feature engineering pipeline, and prediction logic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4794" y="2192238"/>
            <a:ext cx="378014" cy="3780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79042" y="2257127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HTML Templates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679042" y="2665809"/>
            <a:ext cx="285117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index.html with responsive property input form and prediction result display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253508"/>
            <a:ext cx="378014" cy="37802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75723" y="4318397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CSS Styling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1275723" y="4727079"/>
            <a:ext cx="285117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style.css with clean, professional, responsive design for desktop and mobile</a:t>
            </a:r>
            <a:endParaRPr lang="en-US" sz="14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63135" y="4253508"/>
            <a:ext cx="378014" cy="37802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977383" y="4318397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Model Integration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4977383" y="4727079"/>
            <a:ext cx="285117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Trained ANN model connected to web interface via feature pipeline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0126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Testing &amp; Validation</a:t>
            </a:r>
            <a:endParaRPr lang="en-US" sz="3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057797"/>
            <a:ext cx="3527734" cy="35278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20601" y="1476177"/>
            <a:ext cx="6915870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Test Cases &amp; Results</a:t>
            </a:r>
            <a:endParaRPr lang="en-US" sz="1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0601" y="1929011"/>
            <a:ext cx="2198136" cy="18948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890072" y="2122289"/>
            <a:ext cx="1735392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Valid Inputs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4890072" y="2555081"/>
            <a:ext cx="1735392" cy="1071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Form submission → Correct price prediction displayed ✓</a:t>
            </a:r>
            <a:endParaRPr lang="en-US" sz="13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79368" y="1929011"/>
            <a:ext cx="2198236" cy="18948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248840" y="2122289"/>
            <a:ext cx="173549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Invalid Inputs</a:t>
            </a:r>
            <a:endParaRPr lang="en-US" sz="1700" dirty="0"/>
          </a:p>
        </p:txBody>
      </p:sp>
      <p:sp>
        <p:nvSpPr>
          <p:cNvPr id="10" name="Text 5"/>
          <p:cNvSpPr/>
          <p:nvPr/>
        </p:nvSpPr>
        <p:spPr>
          <a:xfrm>
            <a:off x="7248840" y="2555081"/>
            <a:ext cx="1735491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Negative values / zero sqft → Error message shown ✓</a:t>
            </a:r>
            <a:endParaRPr lang="en-US" sz="13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38235" y="1929011"/>
            <a:ext cx="2198136" cy="18948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607707" y="2122289"/>
            <a:ext cx="1735392" cy="54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Location Autocomplete</a:t>
            </a:r>
            <a:endParaRPr lang="en-US" sz="1700" dirty="0"/>
          </a:p>
        </p:txBody>
      </p:sp>
      <p:sp>
        <p:nvSpPr>
          <p:cNvPr id="13" name="Text 7"/>
          <p:cNvSpPr/>
          <p:nvPr/>
        </p:nvSpPr>
        <p:spPr>
          <a:xfrm>
            <a:off x="9607707" y="2827238"/>
            <a:ext cx="1735392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All 183 locations searchable via datalist ✓</a:t>
            </a:r>
            <a:endParaRPr lang="en-US" sz="13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20601" y="3984526"/>
            <a:ext cx="2198136" cy="216267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890072" y="4177804"/>
            <a:ext cx="1735392" cy="54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Area Type Selection</a:t>
            </a:r>
            <a:endParaRPr lang="en-US" sz="1700" dirty="0"/>
          </a:p>
        </p:txBody>
      </p:sp>
      <p:sp>
        <p:nvSpPr>
          <p:cNvPr id="16" name="Text 9"/>
          <p:cNvSpPr/>
          <p:nvPr/>
        </p:nvSpPr>
        <p:spPr>
          <a:xfrm>
            <a:off x="4890072" y="4882753"/>
            <a:ext cx="1735392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All three area types functional ✓</a:t>
            </a:r>
            <a:endParaRPr lang="en-US" sz="135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79368" y="3984526"/>
            <a:ext cx="2198236" cy="2162671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7248840" y="4177804"/>
            <a:ext cx="1735491" cy="54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Real-Time Inference</a:t>
            </a:r>
            <a:endParaRPr lang="en-US" sz="1700" dirty="0"/>
          </a:p>
        </p:txBody>
      </p:sp>
      <p:sp>
        <p:nvSpPr>
          <p:cNvPr id="19" name="Text 11"/>
          <p:cNvSpPr/>
          <p:nvPr/>
        </p:nvSpPr>
        <p:spPr>
          <a:xfrm>
            <a:off x="7248840" y="4882753"/>
            <a:ext cx="1735491" cy="1071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ANN model predictions generated on-demand ✓</a:t>
            </a:r>
            <a:endParaRPr lang="en-US" sz="135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38235" y="3984526"/>
            <a:ext cx="2198136" cy="2162671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9607707" y="4177804"/>
            <a:ext cx="1735392" cy="54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Responsive Design</a:t>
            </a:r>
            <a:endParaRPr lang="en-US" sz="1700" dirty="0"/>
          </a:p>
        </p:txBody>
      </p:sp>
      <p:sp>
        <p:nvSpPr>
          <p:cNvPr id="22" name="Text 13"/>
          <p:cNvSpPr/>
          <p:nvPr/>
        </p:nvSpPr>
        <p:spPr>
          <a:xfrm>
            <a:off x="9607707" y="4882753"/>
            <a:ext cx="1735392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Works on desktop and mobile browsers ✓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427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Progress Summary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72739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PR5 Completed Tasks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211685"/>
            <a:ext cx="5203794" cy="2881908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✓ Flask project structure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✓ HTML form with input validation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✓ CSS responsive styling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✓ Model &amp; scaler loading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✓ Feature engineering pipeline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✓ Prediction logic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✓ Error handling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✓ Local testing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332776" y="172739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Overall Project Trajectory</a:t>
            </a:r>
            <a:endParaRPr lang="en-US" sz="18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776" y="2235299"/>
            <a:ext cx="5203794" cy="37458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159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Next: PR6 — Deployment &amp; Documentation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399977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Upcoming Work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1475" y="1821160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1475" y="2083098"/>
            <a:ext cx="5232666" cy="19050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2203847"/>
            <a:ext cx="5232666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Deploy application on </a:t>
            </a:r>
            <a:r>
              <a:rPr lang="en-US" sz="13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Render/Heroku</a:t>
            </a: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cloud platform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1475" y="2720578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1475" y="2982516"/>
            <a:ext cx="5232666" cy="19050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9" name="Text 7"/>
          <p:cNvSpPr/>
          <p:nvPr/>
        </p:nvSpPr>
        <p:spPr>
          <a:xfrm>
            <a:off x="661475" y="3103265"/>
            <a:ext cx="5232666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Create </a:t>
            </a:r>
            <a:r>
              <a:rPr lang="en-US" sz="13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GitHub repository</a:t>
            </a: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with complete source code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1475" y="3619996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61475" y="3881934"/>
            <a:ext cx="5232666" cy="19050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12" name="Text 10"/>
          <p:cNvSpPr/>
          <p:nvPr/>
        </p:nvSpPr>
        <p:spPr>
          <a:xfrm>
            <a:off x="661475" y="4002683"/>
            <a:ext cx="5232666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Write comprehensive </a:t>
            </a:r>
            <a:r>
              <a:rPr lang="en-US" sz="13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README</a:t>
            </a: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documentation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1475" y="4519414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04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1475" y="4781352"/>
            <a:ext cx="5232666" cy="19050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15" name="Text 13"/>
          <p:cNvSpPr/>
          <p:nvPr/>
        </p:nvSpPr>
        <p:spPr>
          <a:xfrm>
            <a:off x="661475" y="4902101"/>
            <a:ext cx="5232666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Generate </a:t>
            </a:r>
            <a:r>
              <a:rPr lang="en-US" sz="13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requirements.txt</a:t>
            </a: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and </a:t>
            </a:r>
            <a:r>
              <a:rPr lang="en-US" sz="13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Procfile</a:t>
            </a: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for cloud deployment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1475" y="5418832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05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1475" y="5680770"/>
            <a:ext cx="5232666" cy="19050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18" name="Text 16"/>
          <p:cNvSpPr/>
          <p:nvPr/>
        </p:nvSpPr>
        <p:spPr>
          <a:xfrm>
            <a:off x="661475" y="5801519"/>
            <a:ext cx="5232666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Implement </a:t>
            </a:r>
            <a:r>
              <a:rPr lang="en-US" sz="13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online testing</a:t>
            </a: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&amp; bug fixes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3904" y="1399977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Expected Deliverables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03904" y="1803102"/>
            <a:ext cx="5232666" cy="1442641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Live website URL (deployed on cloud)</a:t>
            </a:r>
            <a:endParaRPr lang="en-US" sz="1300" dirty="0"/>
          </a:p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GitHub repository with full source code</a:t>
            </a:r>
            <a:endParaRPr lang="en-US" sz="1300" dirty="0"/>
          </a:p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README with setup &amp; usage instructions</a:t>
            </a:r>
            <a:endParaRPr lang="en-US" sz="1300" dirty="0"/>
          </a:p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requirements.txt with all dependencies</a:t>
            </a:r>
            <a:endParaRPr lang="en-US" sz="1300" dirty="0"/>
          </a:p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Deployment configuration files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03904" y="3408462"/>
            <a:ext cx="5232666" cy="838994"/>
          </a:xfrm>
          <a:prstGeom prst="roundRect">
            <a:avLst>
              <a:gd name="adj" fmla="val 8279"/>
            </a:avLst>
          </a:prstGeom>
          <a:solidFill>
            <a:srgbClr val="283157"/>
          </a:solidFill>
          <a:ln/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198" y="3621187"/>
            <a:ext cx="206667" cy="16529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841160" y="3579912"/>
            <a:ext cx="4530116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Expected Progress: 90–95% Completion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Expected Submission: 12 September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689</Words>
  <Application>Microsoft Office PowerPoint</Application>
  <PresentationFormat>Widescreen</PresentationFormat>
  <Paragraphs>131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Fraunces Medium</vt:lpstr>
      <vt:lpstr>Epilogue Bold</vt:lpstr>
      <vt:lpstr>Arial</vt:lpstr>
      <vt:lpstr>Fraunces Light</vt:lpstr>
      <vt:lpstr>Epilogue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Ravi Patel</dc:creator>
  <cp:lastModifiedBy>Ravi Patel</cp:lastModifiedBy>
  <cp:revision>2</cp:revision>
  <dcterms:created xsi:type="dcterms:W3CDTF">2026-08-21T07:30:10Z</dcterms:created>
  <dcterms:modified xsi:type="dcterms:W3CDTF">2026-08-21T07:38:53Z</dcterms:modified>
</cp:coreProperties>
</file>